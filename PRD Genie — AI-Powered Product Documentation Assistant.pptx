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1508716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851046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1233861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CF34DF-6BB4-45E2-B0D8-1DE0B5DD63AC}" type="datetimeFigureOut">
              <a:rPr lang="en-IN" smtClean="0"/>
              <a:t>18-09-2026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2479493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CF34DF-6BB4-45E2-B0D8-1DE0B5DD63AC}" type="datetimeFigureOut">
              <a:rPr lang="en-IN" smtClean="0"/>
              <a:t>18-09-2026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27464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1582356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333053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2818554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CF34DF-6BB4-45E2-B0D8-1DE0B5DD63AC}" type="datetimeFigureOut">
              <a:rPr lang="en-IN" smtClean="0"/>
              <a:t>18-09-2026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426577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CF34DF-6BB4-45E2-B0D8-1DE0B5DD63AC}" type="datetimeFigureOut">
              <a:rPr lang="en-IN" smtClean="0"/>
              <a:t>18-09-2026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3857805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3914153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41026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3569273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2568107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19544301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82567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CF34DF-6BB4-45E2-B0D8-1DE0B5DD63AC}" type="datetimeFigureOut">
              <a:rPr lang="en-IN" smtClean="0"/>
              <a:t>18-09-2026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34AB89-07A1-4F59-A7A4-5249BF489922}" type="slidenum">
              <a:rPr lang="en-IN" smtClean="0"/>
              <a:t>‹#›</a:t>
            </a:fld>
            <a:endParaRPr lang="en-IN"/>
          </a:p>
        </p:txBody>
      </p:sp>
    </p:spTree>
    <p:extLst>
      <p:ext uri="{BB962C8B-B14F-4D97-AF65-F5344CB8AC3E}">
        <p14:creationId xmlns:p14="http://schemas.microsoft.com/office/powerpoint/2010/main" val="1650777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CCF34DF-6BB4-45E2-B0D8-1DE0B5DD63AC}" type="datetimeFigureOut">
              <a:rPr lang="en-IN" smtClean="0"/>
              <a:t>18-09-2026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834AB89-07A1-4F59-A7A4-5249BF489922}" type="slidenum">
              <a:rPr lang="en-IN" smtClean="0"/>
              <a:t>‹#›</a:t>
            </a:fld>
            <a:endParaRPr lang="en-IN"/>
          </a:p>
        </p:txBody>
      </p:sp>
    </p:spTree>
    <p:extLst>
      <p:ext uri="{BB962C8B-B14F-4D97-AF65-F5344CB8AC3E}">
        <p14:creationId xmlns:p14="http://schemas.microsoft.com/office/powerpoint/2010/main" val="151613806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892A4-B929-7D12-C6CC-A93463F85144}"/>
              </a:ext>
            </a:extLst>
          </p:cNvPr>
          <p:cNvSpPr>
            <a:spLocks noGrp="1"/>
          </p:cNvSpPr>
          <p:nvPr>
            <p:ph type="ctrTitle"/>
          </p:nvPr>
        </p:nvSpPr>
        <p:spPr/>
        <p:txBody>
          <a:bodyPr/>
          <a:lstStyle/>
          <a:p>
            <a:r>
              <a:rPr lang="en-IN" sz="3600" b="1" dirty="0"/>
              <a:t>PRD Genie — AI-Powered Product Documentation Assistant</a:t>
            </a:r>
            <a:endParaRPr lang="en-IN" sz="3600" dirty="0"/>
          </a:p>
        </p:txBody>
      </p:sp>
      <p:sp>
        <p:nvSpPr>
          <p:cNvPr id="3" name="Subtitle 2">
            <a:extLst>
              <a:ext uri="{FF2B5EF4-FFF2-40B4-BE49-F238E27FC236}">
                <a16:creationId xmlns:a16="http://schemas.microsoft.com/office/drawing/2014/main" id="{E953B606-5581-EEA4-492A-493736D6F7D8}"/>
              </a:ext>
            </a:extLst>
          </p:cNvPr>
          <p:cNvSpPr>
            <a:spLocks noGrp="1"/>
          </p:cNvSpPr>
          <p:nvPr>
            <p:ph type="subTitle" idx="1"/>
          </p:nvPr>
        </p:nvSpPr>
        <p:spPr/>
        <p:txBody>
          <a:bodyPr/>
          <a:lstStyle/>
          <a:p>
            <a:r>
              <a:rPr lang="en-US" dirty="0"/>
              <a:t>- Alok Ranjan Chakraverty</a:t>
            </a:r>
            <a:br>
              <a:rPr lang="en-US" dirty="0"/>
            </a:br>
            <a:r>
              <a:rPr lang="en-US" sz="1800" dirty="0"/>
              <a:t>IK Mid June AI TPM Batch</a:t>
            </a:r>
            <a:endParaRPr lang="en-IN" dirty="0"/>
          </a:p>
        </p:txBody>
      </p:sp>
    </p:spTree>
    <p:extLst>
      <p:ext uri="{BB962C8B-B14F-4D97-AF65-F5344CB8AC3E}">
        <p14:creationId xmlns:p14="http://schemas.microsoft.com/office/powerpoint/2010/main" val="1353630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5AF93-6F17-CA8A-A8BD-CFF0F1A55ED7}"/>
              </a:ext>
            </a:extLst>
          </p:cNvPr>
          <p:cNvSpPr>
            <a:spLocks noGrp="1"/>
          </p:cNvSpPr>
          <p:nvPr>
            <p:ph type="title"/>
          </p:nvPr>
        </p:nvSpPr>
        <p:spPr>
          <a:xfrm>
            <a:off x="646111" y="452718"/>
            <a:ext cx="9404723" cy="885888"/>
          </a:xfrm>
        </p:spPr>
        <p:txBody>
          <a:bodyPr/>
          <a:lstStyle/>
          <a:p>
            <a:r>
              <a:rPr lang="en-IN" sz="3600" b="1" dirty="0"/>
              <a:t>Problem Statement</a:t>
            </a:r>
            <a:endParaRPr lang="en-IN" sz="3600" dirty="0"/>
          </a:p>
        </p:txBody>
      </p:sp>
      <p:sp>
        <p:nvSpPr>
          <p:cNvPr id="3" name="Content Placeholder 2">
            <a:extLst>
              <a:ext uri="{FF2B5EF4-FFF2-40B4-BE49-F238E27FC236}">
                <a16:creationId xmlns:a16="http://schemas.microsoft.com/office/drawing/2014/main" id="{3B4B720C-5368-187E-37E4-C2A8C980642E}"/>
              </a:ext>
            </a:extLst>
          </p:cNvPr>
          <p:cNvSpPr>
            <a:spLocks noGrp="1"/>
          </p:cNvSpPr>
          <p:nvPr>
            <p:ph idx="1"/>
          </p:nvPr>
        </p:nvSpPr>
        <p:spPr>
          <a:xfrm>
            <a:off x="829935" y="1543871"/>
            <a:ext cx="10265413" cy="4772088"/>
          </a:xfrm>
        </p:spPr>
        <p:txBody>
          <a:bodyPr>
            <a:normAutofit/>
          </a:bodyPr>
          <a:lstStyle/>
          <a:p>
            <a:pPr marL="0" indent="0">
              <a:buNone/>
            </a:pPr>
            <a:r>
              <a:rPr lang="en-IN" b="1" dirty="0"/>
              <a:t>The Problem: PMs are drowning in documentation, not doing product work</a:t>
            </a:r>
          </a:p>
          <a:p>
            <a:pPr lvl="0"/>
            <a:r>
              <a:rPr lang="en-IN" dirty="0"/>
              <a:t>Every sprint, PMs spend hours manually mining meeting transcripts for requirements.</a:t>
            </a:r>
            <a:br>
              <a:rPr lang="en-IN" dirty="0"/>
            </a:br>
            <a:endParaRPr lang="en-IN" dirty="0"/>
          </a:p>
          <a:p>
            <a:pPr lvl="0"/>
            <a:r>
              <a:rPr lang="en-IN" dirty="0"/>
              <a:t>Every PM formats PRDs differently — engineering can't estimate consistently.</a:t>
            </a:r>
            <a:br>
              <a:rPr lang="en-IN" dirty="0"/>
            </a:br>
            <a:endParaRPr lang="en-IN" dirty="0"/>
          </a:p>
          <a:p>
            <a:pPr lvl="0"/>
            <a:r>
              <a:rPr lang="en-IN" dirty="0"/>
              <a:t>Requirements sit buried in notes nobody revisits — until they resurface too late.</a:t>
            </a:r>
            <a:br>
              <a:rPr lang="en-IN" dirty="0"/>
            </a:br>
            <a:endParaRPr lang="en-IN" dirty="0"/>
          </a:p>
          <a:p>
            <a:pPr marL="0" indent="0">
              <a:buNone/>
            </a:pPr>
            <a:r>
              <a:rPr lang="en-IN" b="1" dirty="0"/>
              <a:t>Result: </a:t>
            </a:r>
            <a:r>
              <a:rPr lang="en-IN" i="1" dirty="0"/>
              <a:t>delays, inconsistent tracking, slower time-to-market.</a:t>
            </a:r>
            <a:endParaRPr lang="en-IN" dirty="0"/>
          </a:p>
          <a:p>
            <a:pPr marL="0" lvl="0" indent="0">
              <a:buNone/>
            </a:pPr>
            <a:endParaRPr lang="en-IN" dirty="0"/>
          </a:p>
          <a:p>
            <a:endParaRPr lang="en-IN" dirty="0"/>
          </a:p>
        </p:txBody>
      </p:sp>
    </p:spTree>
    <p:extLst>
      <p:ext uri="{BB962C8B-B14F-4D97-AF65-F5344CB8AC3E}">
        <p14:creationId xmlns:p14="http://schemas.microsoft.com/office/powerpoint/2010/main" val="13106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EE5CA-A44D-A984-2DF9-B0FE957C1B24}"/>
              </a:ext>
            </a:extLst>
          </p:cNvPr>
          <p:cNvSpPr>
            <a:spLocks noGrp="1"/>
          </p:cNvSpPr>
          <p:nvPr>
            <p:ph type="title"/>
          </p:nvPr>
        </p:nvSpPr>
        <p:spPr>
          <a:xfrm>
            <a:off x="646111" y="452718"/>
            <a:ext cx="9404723" cy="904742"/>
          </a:xfrm>
        </p:spPr>
        <p:txBody>
          <a:bodyPr/>
          <a:lstStyle/>
          <a:p>
            <a:r>
              <a:rPr lang="en-US" sz="3600" b="1" dirty="0"/>
              <a:t>Solution – </a:t>
            </a:r>
            <a:r>
              <a:rPr lang="en-IN" sz="3600" b="1" dirty="0"/>
              <a:t>PRD Ginie an AI Assistant</a:t>
            </a:r>
          </a:p>
        </p:txBody>
      </p:sp>
      <p:sp>
        <p:nvSpPr>
          <p:cNvPr id="3" name="Content Placeholder 2">
            <a:extLst>
              <a:ext uri="{FF2B5EF4-FFF2-40B4-BE49-F238E27FC236}">
                <a16:creationId xmlns:a16="http://schemas.microsoft.com/office/drawing/2014/main" id="{FD8CE244-6B9D-4BDB-F9B8-70B7479AB7A6}"/>
              </a:ext>
            </a:extLst>
          </p:cNvPr>
          <p:cNvSpPr>
            <a:spLocks noGrp="1"/>
          </p:cNvSpPr>
          <p:nvPr>
            <p:ph idx="1"/>
          </p:nvPr>
        </p:nvSpPr>
        <p:spPr>
          <a:xfrm>
            <a:off x="792227" y="1506163"/>
            <a:ext cx="10369109" cy="4734381"/>
          </a:xfrm>
        </p:spPr>
        <p:txBody>
          <a:bodyPr>
            <a:normAutofit/>
          </a:bodyPr>
          <a:lstStyle/>
          <a:p>
            <a:pPr marL="0" indent="0">
              <a:buNone/>
            </a:pPr>
            <a:r>
              <a:rPr lang="en-IN" b="1" dirty="0"/>
              <a:t>The Solution: from transcript to structured PRD, automatically</a:t>
            </a:r>
          </a:p>
          <a:p>
            <a:r>
              <a:rPr lang="en-IN" dirty="0"/>
              <a:t>A multi-agent AI system that extracts requirements, generates a standardized PRD, and breaks it into epics and user stories — grounded entirely in what was actually said.</a:t>
            </a:r>
            <a:br>
              <a:rPr lang="en-IN" dirty="0"/>
            </a:br>
            <a:endParaRPr lang="en-IN" dirty="0"/>
          </a:p>
          <a:p>
            <a:pPr lvl="0"/>
            <a:r>
              <a:rPr lang="en-IN" dirty="0"/>
              <a:t>Time back: hours reclaimed per sprint, redirected to product thinking.</a:t>
            </a:r>
            <a:br>
              <a:rPr lang="en-IN" dirty="0"/>
            </a:br>
            <a:endParaRPr lang="en-IN" dirty="0"/>
          </a:p>
          <a:p>
            <a:pPr lvl="0"/>
            <a:r>
              <a:rPr lang="en-IN" dirty="0"/>
              <a:t>Consistency: every PRD follows one structure — apples-to-apples estimation.</a:t>
            </a:r>
            <a:br>
              <a:rPr lang="en-IN" dirty="0"/>
            </a:br>
            <a:endParaRPr lang="en-IN" dirty="0"/>
          </a:p>
          <a:p>
            <a:pPr lvl="0"/>
            <a:r>
              <a:rPr lang="en-IN" dirty="0"/>
              <a:t>Traceability: nothing discussed gets lost or rediscovered three sprints later.</a:t>
            </a:r>
            <a:br>
              <a:rPr lang="en-IN" dirty="0"/>
            </a:br>
            <a:endParaRPr lang="en-IN" dirty="0"/>
          </a:p>
          <a:p>
            <a:pPr marL="0" indent="0">
              <a:buNone/>
            </a:pPr>
            <a:r>
              <a:rPr lang="en-IN" b="1" dirty="0"/>
              <a:t>Validated against a 12-input baseline test suite — not just a demo.</a:t>
            </a:r>
            <a:br>
              <a:rPr lang="en-IN" b="1" dirty="0"/>
            </a:br>
            <a:endParaRPr lang="en-IN" b="1" dirty="0"/>
          </a:p>
        </p:txBody>
      </p:sp>
    </p:spTree>
    <p:extLst>
      <p:ext uri="{BB962C8B-B14F-4D97-AF65-F5344CB8AC3E}">
        <p14:creationId xmlns:p14="http://schemas.microsoft.com/office/powerpoint/2010/main" val="717814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9795-B87F-6978-E02F-687694D41474}"/>
              </a:ext>
            </a:extLst>
          </p:cNvPr>
          <p:cNvSpPr>
            <a:spLocks noGrp="1"/>
          </p:cNvSpPr>
          <p:nvPr>
            <p:ph type="title"/>
          </p:nvPr>
        </p:nvSpPr>
        <p:spPr>
          <a:xfrm>
            <a:off x="646111" y="452718"/>
            <a:ext cx="9404723" cy="867035"/>
          </a:xfrm>
        </p:spPr>
        <p:txBody>
          <a:bodyPr/>
          <a:lstStyle/>
          <a:p>
            <a:r>
              <a:rPr lang="en-US" sz="3600" b="1" dirty="0"/>
              <a:t>PRD Ginie – Vision	</a:t>
            </a:r>
            <a:endParaRPr lang="en-IN" sz="3600" b="1" dirty="0"/>
          </a:p>
        </p:txBody>
      </p:sp>
      <p:sp>
        <p:nvSpPr>
          <p:cNvPr id="3" name="Content Placeholder 2">
            <a:extLst>
              <a:ext uri="{FF2B5EF4-FFF2-40B4-BE49-F238E27FC236}">
                <a16:creationId xmlns:a16="http://schemas.microsoft.com/office/drawing/2014/main" id="{872C0F9A-D163-6D71-1785-AB253C01154F}"/>
              </a:ext>
            </a:extLst>
          </p:cNvPr>
          <p:cNvSpPr>
            <a:spLocks noGrp="1"/>
          </p:cNvSpPr>
          <p:nvPr>
            <p:ph idx="1"/>
          </p:nvPr>
        </p:nvSpPr>
        <p:spPr>
          <a:xfrm>
            <a:off x="725864" y="1404594"/>
            <a:ext cx="10341204" cy="4843805"/>
          </a:xfrm>
        </p:spPr>
        <p:txBody>
          <a:bodyPr/>
          <a:lstStyle/>
          <a:p>
            <a:r>
              <a:rPr lang="en-IN" dirty="0"/>
              <a:t>PRD Genie transforms this process from a manual, inconsistent bottleneck into a multi-agent AI pipeline </a:t>
            </a:r>
            <a:br>
              <a:rPr lang="en-IN" dirty="0"/>
            </a:br>
            <a:endParaRPr lang="en-IN" dirty="0"/>
          </a:p>
          <a:p>
            <a:r>
              <a:rPr lang="en-IN" dirty="0"/>
              <a:t>Turning raw meeting transcripts, stakeholder notes, and product briefs into grounded, traceable PRDs and engineering-ready user stories. </a:t>
            </a:r>
            <a:br>
              <a:rPr lang="en-IN" dirty="0"/>
            </a:br>
            <a:endParaRPr lang="en-IN" dirty="0"/>
          </a:p>
          <a:p>
            <a:r>
              <a:rPr lang="en-IN" dirty="0"/>
              <a:t>The vision is not to remove PM judgment from the process, but to remove the manual transcription and formatting burden.</a:t>
            </a:r>
            <a:br>
              <a:rPr lang="en-IN" dirty="0"/>
            </a:br>
            <a:endParaRPr lang="en-IN" dirty="0"/>
          </a:p>
          <a:p>
            <a:r>
              <a:rPr lang="en-IN" dirty="0"/>
              <a:t>So PMs and TPMs spend their time on product strategy and stakeholder alignment instead of documentation.</a:t>
            </a:r>
          </a:p>
          <a:p>
            <a:endParaRPr lang="en-IN" dirty="0"/>
          </a:p>
        </p:txBody>
      </p:sp>
    </p:spTree>
    <p:extLst>
      <p:ext uri="{BB962C8B-B14F-4D97-AF65-F5344CB8AC3E}">
        <p14:creationId xmlns:p14="http://schemas.microsoft.com/office/powerpoint/2010/main" val="4098101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98DC1-007E-F94E-2BCE-C4C794AD988C}"/>
              </a:ext>
            </a:extLst>
          </p:cNvPr>
          <p:cNvSpPr>
            <a:spLocks noGrp="1"/>
          </p:cNvSpPr>
          <p:nvPr>
            <p:ph type="title"/>
          </p:nvPr>
        </p:nvSpPr>
        <p:spPr>
          <a:xfrm>
            <a:off x="646110" y="496179"/>
            <a:ext cx="9404723" cy="697352"/>
          </a:xfrm>
        </p:spPr>
        <p:txBody>
          <a:bodyPr/>
          <a:lstStyle/>
          <a:p>
            <a:r>
              <a:rPr lang="en-US" sz="3600" b="1" dirty="0"/>
              <a:t>PRD Ginie - PM Workflow</a:t>
            </a:r>
            <a:endParaRPr lang="en-IN" sz="3600" b="1" dirty="0"/>
          </a:p>
        </p:txBody>
      </p:sp>
      <p:graphicFrame>
        <p:nvGraphicFramePr>
          <p:cNvPr id="4" name="Content Placeholder 3">
            <a:extLst>
              <a:ext uri="{FF2B5EF4-FFF2-40B4-BE49-F238E27FC236}">
                <a16:creationId xmlns:a16="http://schemas.microsoft.com/office/drawing/2014/main" id="{2B292603-FC1A-F7C5-E40F-EFD0274665E8}"/>
              </a:ext>
            </a:extLst>
          </p:cNvPr>
          <p:cNvGraphicFramePr>
            <a:graphicFrameLocks noGrp="1"/>
          </p:cNvGraphicFramePr>
          <p:nvPr>
            <p:ph idx="1"/>
            <p:extLst>
              <p:ext uri="{D42A27DB-BD31-4B8C-83A1-F6EECF244321}">
                <p14:modId xmlns:p14="http://schemas.microsoft.com/office/powerpoint/2010/main" val="2802960842"/>
              </p:ext>
            </p:extLst>
          </p:nvPr>
        </p:nvGraphicFramePr>
        <p:xfrm>
          <a:off x="646110" y="1263191"/>
          <a:ext cx="10468091" cy="5505253"/>
        </p:xfrm>
        <a:graphic>
          <a:graphicData uri="http://schemas.openxmlformats.org/drawingml/2006/table">
            <a:tbl>
              <a:tblPr firstRow="1" firstCol="1" bandRow="1">
                <a:tableStyleId>{5C22544A-7EE6-4342-B048-85BDC9FD1C3A}</a:tableStyleId>
              </a:tblPr>
              <a:tblGrid>
                <a:gridCol w="5299588">
                  <a:extLst>
                    <a:ext uri="{9D8B030D-6E8A-4147-A177-3AD203B41FA5}">
                      <a16:colId xmlns:a16="http://schemas.microsoft.com/office/drawing/2014/main" val="1588420445"/>
                    </a:ext>
                  </a:extLst>
                </a:gridCol>
                <a:gridCol w="5168503">
                  <a:extLst>
                    <a:ext uri="{9D8B030D-6E8A-4147-A177-3AD203B41FA5}">
                      <a16:colId xmlns:a16="http://schemas.microsoft.com/office/drawing/2014/main" val="3683501758"/>
                    </a:ext>
                  </a:extLst>
                </a:gridCol>
              </a:tblGrid>
              <a:tr h="5505253">
                <a:tc>
                  <a:txBody>
                    <a:bodyPr/>
                    <a:lstStyle/>
                    <a:p>
                      <a:pPr algn="ctr">
                        <a:spcBef>
                          <a:spcPts val="400"/>
                        </a:spcBef>
                        <a:spcAft>
                          <a:spcPts val="1200"/>
                        </a:spcAft>
                        <a:buNone/>
                      </a:pPr>
                      <a:r>
                        <a:rPr lang="en-IN" sz="900" dirty="0">
                          <a:effectLst/>
                        </a:rPr>
                        <a:t>Before — Manual PM Workflow</a:t>
                      </a:r>
                      <a:endParaRPr lang="en-IN" sz="1000" dirty="0">
                        <a:effectLst/>
                        <a:latin typeface="Times New Roman" panose="02020603050405020304" pitchFamily="18" charset="0"/>
                        <a:ea typeface="Times New Roman" panose="02020603050405020304" pitchFamily="18" charset="0"/>
                      </a:endParaRPr>
                    </a:p>
                  </a:txBody>
                  <a:tcPr marL="61467" marR="61467" marT="61467" marB="0">
                    <a:solidFill>
                      <a:schemeClr val="bg2"/>
                    </a:solidFill>
                  </a:tcPr>
                </a:tc>
                <a:tc>
                  <a:txBody>
                    <a:bodyPr/>
                    <a:lstStyle/>
                    <a:p>
                      <a:pPr algn="ctr">
                        <a:spcBef>
                          <a:spcPts val="400"/>
                        </a:spcBef>
                        <a:spcAft>
                          <a:spcPts val="1200"/>
                        </a:spcAft>
                        <a:buNone/>
                      </a:pPr>
                      <a:r>
                        <a:rPr lang="en-IN" sz="900" dirty="0">
                          <a:effectLst/>
                        </a:rPr>
                        <a:t>After — PRD Genie Pipeline</a:t>
                      </a:r>
                      <a:endParaRPr lang="en-IN" sz="1000" dirty="0">
                        <a:effectLst/>
                        <a:latin typeface="Times New Roman" panose="02020603050405020304" pitchFamily="18" charset="0"/>
                        <a:ea typeface="Times New Roman" panose="02020603050405020304" pitchFamily="18" charset="0"/>
                      </a:endParaRPr>
                    </a:p>
                  </a:txBody>
                  <a:tcPr marL="61467" marR="61467" marT="61467" marB="0">
                    <a:solidFill>
                      <a:schemeClr val="bg2"/>
                    </a:solidFill>
                  </a:tcPr>
                </a:tc>
                <a:extLst>
                  <a:ext uri="{0D108BD9-81ED-4DB2-BD59-A6C34878D82A}">
                    <a16:rowId xmlns:a16="http://schemas.microsoft.com/office/drawing/2014/main" val="4176874216"/>
                  </a:ext>
                </a:extLst>
              </a:tr>
            </a:tbl>
          </a:graphicData>
        </a:graphic>
      </p:graphicFrame>
      <p:pic>
        <p:nvPicPr>
          <p:cNvPr id="1026" name="Picture 1">
            <a:extLst>
              <a:ext uri="{FF2B5EF4-FFF2-40B4-BE49-F238E27FC236}">
                <a16:creationId xmlns:a16="http://schemas.microsoft.com/office/drawing/2014/main" id="{34917510-FB0E-8C39-2188-26DF96C371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2937" y="1331504"/>
            <a:ext cx="4392890" cy="5506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629E994-089A-FE36-AD0C-D871E364A5F2}"/>
              </a:ext>
            </a:extLst>
          </p:cNvPr>
          <p:cNvPicPr>
            <a:picLocks noChangeAspect="1"/>
          </p:cNvPicPr>
          <p:nvPr/>
        </p:nvPicPr>
        <p:blipFill>
          <a:blip r:embed="rId3"/>
          <a:srcRect/>
          <a:stretch>
            <a:fillRect/>
          </a:stretch>
        </p:blipFill>
        <p:spPr bwMode="auto">
          <a:xfrm>
            <a:off x="6696175" y="1263191"/>
            <a:ext cx="4028387" cy="5508837"/>
          </a:xfrm>
          <a:prstGeom prst="rect">
            <a:avLst/>
          </a:prstGeom>
        </p:spPr>
      </p:pic>
    </p:spTree>
    <p:extLst>
      <p:ext uri="{BB962C8B-B14F-4D97-AF65-F5344CB8AC3E}">
        <p14:creationId xmlns:p14="http://schemas.microsoft.com/office/powerpoint/2010/main" val="3224187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34CC-7F6B-B710-E663-40A5907A49E7}"/>
              </a:ext>
            </a:extLst>
          </p:cNvPr>
          <p:cNvSpPr>
            <a:spLocks noGrp="1"/>
          </p:cNvSpPr>
          <p:nvPr>
            <p:ph type="title"/>
          </p:nvPr>
        </p:nvSpPr>
        <p:spPr>
          <a:xfrm>
            <a:off x="646111" y="452718"/>
            <a:ext cx="9404723" cy="876461"/>
          </a:xfrm>
        </p:spPr>
        <p:txBody>
          <a:bodyPr/>
          <a:lstStyle/>
          <a:p>
            <a:r>
              <a:rPr lang="en-US" sz="3600" b="1" dirty="0"/>
              <a:t>Why Multi Agent</a:t>
            </a:r>
            <a:endParaRPr lang="en-IN" sz="3600" b="1" dirty="0"/>
          </a:p>
        </p:txBody>
      </p:sp>
      <p:sp>
        <p:nvSpPr>
          <p:cNvPr id="3" name="Content Placeholder 2">
            <a:extLst>
              <a:ext uri="{FF2B5EF4-FFF2-40B4-BE49-F238E27FC236}">
                <a16:creationId xmlns:a16="http://schemas.microsoft.com/office/drawing/2014/main" id="{1FF0F720-872A-8396-FCC5-5F52AD1005DA}"/>
              </a:ext>
            </a:extLst>
          </p:cNvPr>
          <p:cNvSpPr>
            <a:spLocks noGrp="1"/>
          </p:cNvSpPr>
          <p:nvPr>
            <p:ph idx="1"/>
          </p:nvPr>
        </p:nvSpPr>
        <p:spPr>
          <a:xfrm>
            <a:off x="801654" y="1411896"/>
            <a:ext cx="10199426" cy="4993386"/>
          </a:xfrm>
        </p:spPr>
        <p:txBody>
          <a:bodyPr>
            <a:normAutofit/>
          </a:bodyPr>
          <a:lstStyle/>
          <a:p>
            <a:pPr marL="0" indent="0">
              <a:buNone/>
            </a:pPr>
            <a:r>
              <a:rPr lang="en-IN" b="1" dirty="0"/>
              <a:t>Multi-Agent vs. Single-Agent</a:t>
            </a:r>
          </a:p>
          <a:p>
            <a:r>
              <a:rPr lang="en-IN" dirty="0"/>
              <a:t>Multiple agents have defined, granular responsibility, </a:t>
            </a:r>
            <a:br>
              <a:rPr lang="en-IN" dirty="0"/>
            </a:br>
            <a:endParaRPr lang="en-IN" dirty="0"/>
          </a:p>
          <a:p>
            <a:r>
              <a:rPr lang="en-IN" dirty="0"/>
              <a:t>Makes the system easier to maintain and triage when something goes wrong </a:t>
            </a:r>
            <a:br>
              <a:rPr lang="en-IN" dirty="0"/>
            </a:br>
            <a:endParaRPr lang="en-IN" dirty="0"/>
          </a:p>
          <a:p>
            <a:r>
              <a:rPr lang="en-IN" dirty="0"/>
              <a:t>Evaluation traces and logs can pinpoint exactly which agent produced an issue. </a:t>
            </a:r>
            <a:br>
              <a:rPr lang="en-IN" dirty="0"/>
            </a:br>
            <a:endParaRPr lang="en-IN" dirty="0"/>
          </a:p>
          <a:p>
            <a:r>
              <a:rPr lang="en-IN" dirty="0"/>
              <a:t>Each agent can also be designed with guardrails specific to its role, reducing hallucination more effectively than one agent trying to do everything at once.</a:t>
            </a:r>
          </a:p>
          <a:p>
            <a:endParaRPr lang="en-IN" dirty="0"/>
          </a:p>
        </p:txBody>
      </p:sp>
    </p:spTree>
    <p:extLst>
      <p:ext uri="{BB962C8B-B14F-4D97-AF65-F5344CB8AC3E}">
        <p14:creationId xmlns:p14="http://schemas.microsoft.com/office/powerpoint/2010/main" val="1791623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C54EB-51FE-5B44-EDA3-AA751B65D740}"/>
              </a:ext>
            </a:extLst>
          </p:cNvPr>
          <p:cNvSpPr>
            <a:spLocks noGrp="1"/>
          </p:cNvSpPr>
          <p:nvPr>
            <p:ph type="title"/>
          </p:nvPr>
        </p:nvSpPr>
        <p:spPr>
          <a:xfrm>
            <a:off x="646111" y="452718"/>
            <a:ext cx="9404723" cy="659645"/>
          </a:xfrm>
        </p:spPr>
        <p:txBody>
          <a:bodyPr/>
          <a:lstStyle/>
          <a:p>
            <a:r>
              <a:rPr lang="en-IN" sz="3600" b="1" dirty="0"/>
              <a:t>PRD Ginie - Objectives</a:t>
            </a:r>
            <a:endParaRPr lang="en-IN" sz="3600" dirty="0"/>
          </a:p>
        </p:txBody>
      </p:sp>
      <p:sp>
        <p:nvSpPr>
          <p:cNvPr id="3" name="Content Placeholder 2">
            <a:extLst>
              <a:ext uri="{FF2B5EF4-FFF2-40B4-BE49-F238E27FC236}">
                <a16:creationId xmlns:a16="http://schemas.microsoft.com/office/drawing/2014/main" id="{6A0A3DB2-49B1-4307-74B5-61A808AAF200}"/>
              </a:ext>
            </a:extLst>
          </p:cNvPr>
          <p:cNvSpPr>
            <a:spLocks noGrp="1"/>
          </p:cNvSpPr>
          <p:nvPr>
            <p:ph idx="1"/>
          </p:nvPr>
        </p:nvSpPr>
        <p:spPr>
          <a:xfrm>
            <a:off x="792228" y="1430749"/>
            <a:ext cx="10095731" cy="4668393"/>
          </a:xfrm>
        </p:spPr>
        <p:txBody>
          <a:bodyPr>
            <a:normAutofit fontScale="92500"/>
          </a:bodyPr>
          <a:lstStyle/>
          <a:p>
            <a:pPr lvl="0"/>
            <a:r>
              <a:rPr lang="en-IN" dirty="0"/>
              <a:t>Ground every generated requirement in a traceable source document — zero fabricated requirements, metrics, or personas.</a:t>
            </a:r>
          </a:p>
          <a:p>
            <a:pPr lvl="0"/>
            <a:endParaRPr lang="en-IN" dirty="0"/>
          </a:p>
          <a:p>
            <a:pPr lvl="0"/>
            <a:r>
              <a:rPr lang="en-IN" dirty="0"/>
              <a:t>Standardize PRD structure across all inputs via a single shared template</a:t>
            </a:r>
          </a:p>
          <a:p>
            <a:pPr lvl="0"/>
            <a:endParaRPr lang="en-IN" dirty="0"/>
          </a:p>
          <a:p>
            <a:pPr lvl="0"/>
            <a:r>
              <a:rPr lang="en-IN" dirty="0"/>
              <a:t>Surface every cross-source conflict, stakeholder tension, and open question for explicit human resolution — never silently resolve ambiguity on the PM's behalf.</a:t>
            </a:r>
            <a:br>
              <a:rPr lang="en-IN" dirty="0"/>
            </a:br>
            <a:endParaRPr lang="en-IN" dirty="0"/>
          </a:p>
          <a:p>
            <a:pPr lvl="0"/>
            <a:r>
              <a:rPr lang="en-IN" dirty="0"/>
              <a:t>Convert the finalized PRD into properly persona-separated, correctly prioritized Epics, Features, and User Stories.</a:t>
            </a:r>
            <a:br>
              <a:rPr lang="en-IN" dirty="0"/>
            </a:br>
            <a:endParaRPr lang="en-IN" dirty="0"/>
          </a:p>
          <a:p>
            <a:r>
              <a:rPr lang="en-IN" dirty="0"/>
              <a:t>Establish a measurable evaluation baseline (a 12-input test suite plus </a:t>
            </a:r>
            <a:r>
              <a:rPr lang="en-IN" dirty="0" err="1"/>
              <a:t>Langfuse</a:t>
            </a:r>
            <a:r>
              <a:rPr lang="en-IN" dirty="0"/>
              <a:t> tracing)</a:t>
            </a:r>
          </a:p>
        </p:txBody>
      </p:sp>
    </p:spTree>
    <p:extLst>
      <p:ext uri="{BB962C8B-B14F-4D97-AF65-F5344CB8AC3E}">
        <p14:creationId xmlns:p14="http://schemas.microsoft.com/office/powerpoint/2010/main" val="3266223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F6AA-B2EF-3651-3B54-8B766AD21928}"/>
              </a:ext>
            </a:extLst>
          </p:cNvPr>
          <p:cNvSpPr>
            <a:spLocks noGrp="1"/>
          </p:cNvSpPr>
          <p:nvPr>
            <p:ph type="title"/>
          </p:nvPr>
        </p:nvSpPr>
        <p:spPr>
          <a:xfrm>
            <a:off x="646111" y="452718"/>
            <a:ext cx="9404723" cy="753913"/>
          </a:xfrm>
        </p:spPr>
        <p:txBody>
          <a:bodyPr/>
          <a:lstStyle/>
          <a:p>
            <a:r>
              <a:rPr lang="en-US" sz="3600" b="1" dirty="0"/>
              <a:t>PRD Ginie – Scope</a:t>
            </a:r>
            <a:endParaRPr lang="en-IN" sz="3600" b="1" dirty="0"/>
          </a:p>
        </p:txBody>
      </p:sp>
      <p:sp>
        <p:nvSpPr>
          <p:cNvPr id="3" name="Content Placeholder 2">
            <a:extLst>
              <a:ext uri="{FF2B5EF4-FFF2-40B4-BE49-F238E27FC236}">
                <a16:creationId xmlns:a16="http://schemas.microsoft.com/office/drawing/2014/main" id="{A27D7DD0-2F0D-1689-D78D-29A8F88ABECB}"/>
              </a:ext>
            </a:extLst>
          </p:cNvPr>
          <p:cNvSpPr>
            <a:spLocks noGrp="1"/>
          </p:cNvSpPr>
          <p:nvPr>
            <p:ph idx="1"/>
          </p:nvPr>
        </p:nvSpPr>
        <p:spPr>
          <a:xfrm>
            <a:off x="754520" y="1395167"/>
            <a:ext cx="10878156" cy="5184742"/>
          </a:xfrm>
        </p:spPr>
        <p:txBody>
          <a:bodyPr>
            <a:normAutofit/>
          </a:bodyPr>
          <a:lstStyle/>
          <a:p>
            <a:pPr lvl="0"/>
            <a:r>
              <a:rPr lang="en-IN" b="1" dirty="0"/>
              <a:t>Core sequential pipeline: </a:t>
            </a:r>
            <a:br>
              <a:rPr lang="en-IN" b="1" dirty="0"/>
            </a:br>
            <a:r>
              <a:rPr lang="en-IN" dirty="0"/>
              <a:t>Requirement Extractor → Gap Analyzer → PRD Generator → Critique/Resolver loop → Story Breakdown.</a:t>
            </a:r>
          </a:p>
          <a:p>
            <a:pPr lvl="0"/>
            <a:r>
              <a:rPr lang="en-IN" dirty="0"/>
              <a:t>Gap Analyzer as the selected </a:t>
            </a:r>
            <a:r>
              <a:rPr lang="en-IN" b="1" dirty="0"/>
              <a:t>Extended Capability </a:t>
            </a:r>
            <a:r>
              <a:rPr lang="en-IN" dirty="0"/>
              <a:t>— cross-source conflict detection, stakeholder tension surfacing, and consolidated clarification questions.</a:t>
            </a:r>
          </a:p>
          <a:p>
            <a:pPr lvl="0"/>
            <a:r>
              <a:rPr lang="en-IN" dirty="0"/>
              <a:t>PRD generation against a fixed, externally swappable template, grounded strictly in extracted requirements and gap analysis.</a:t>
            </a:r>
          </a:p>
          <a:p>
            <a:pPr lvl="0"/>
            <a:r>
              <a:rPr lang="en-IN" dirty="0"/>
              <a:t>Epic/Feature/User Story breakdown with persona separation, priority inheritance, and preserved contested-item status.</a:t>
            </a:r>
          </a:p>
          <a:p>
            <a:pPr lvl="0"/>
            <a:r>
              <a:rPr lang="en-IN" dirty="0"/>
              <a:t>A deterministic, code-based completeness validation step, independent of LLM self-review.</a:t>
            </a:r>
          </a:p>
          <a:p>
            <a:pPr lvl="0"/>
            <a:r>
              <a:rPr lang="en-IN" dirty="0"/>
              <a:t>Observability and tracing via </a:t>
            </a:r>
            <a:r>
              <a:rPr lang="en-IN" dirty="0" err="1"/>
              <a:t>Langfuse</a:t>
            </a:r>
            <a:r>
              <a:rPr lang="en-IN" dirty="0"/>
              <a:t> across all agents, with baseline test documentation.</a:t>
            </a:r>
          </a:p>
          <a:p>
            <a:endParaRPr lang="en-IN" dirty="0"/>
          </a:p>
        </p:txBody>
      </p:sp>
    </p:spTree>
    <p:extLst>
      <p:ext uri="{BB962C8B-B14F-4D97-AF65-F5344CB8AC3E}">
        <p14:creationId xmlns:p14="http://schemas.microsoft.com/office/powerpoint/2010/main" val="152843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67AED-2DBF-2FD1-005F-CD4168602783}"/>
              </a:ext>
            </a:extLst>
          </p:cNvPr>
          <p:cNvSpPr>
            <a:spLocks noGrp="1"/>
          </p:cNvSpPr>
          <p:nvPr>
            <p:ph type="title"/>
          </p:nvPr>
        </p:nvSpPr>
        <p:spPr>
          <a:xfrm>
            <a:off x="646111" y="452718"/>
            <a:ext cx="9404723" cy="914169"/>
          </a:xfrm>
        </p:spPr>
        <p:txBody>
          <a:bodyPr/>
          <a:lstStyle/>
          <a:p>
            <a:r>
              <a:rPr lang="en-IN" b="1" dirty="0"/>
              <a:t>Out of Scope (this iteration)</a:t>
            </a:r>
            <a:br>
              <a:rPr lang="en-IN" b="1" dirty="0"/>
            </a:br>
            <a:endParaRPr lang="en-IN" dirty="0"/>
          </a:p>
        </p:txBody>
      </p:sp>
      <p:sp>
        <p:nvSpPr>
          <p:cNvPr id="3" name="Content Placeholder 2">
            <a:extLst>
              <a:ext uri="{FF2B5EF4-FFF2-40B4-BE49-F238E27FC236}">
                <a16:creationId xmlns:a16="http://schemas.microsoft.com/office/drawing/2014/main" id="{98EB344F-2B63-7DE5-12A3-95AAB35D89D4}"/>
              </a:ext>
            </a:extLst>
          </p:cNvPr>
          <p:cNvSpPr>
            <a:spLocks noGrp="1"/>
          </p:cNvSpPr>
          <p:nvPr>
            <p:ph idx="1"/>
          </p:nvPr>
        </p:nvSpPr>
        <p:spPr>
          <a:xfrm>
            <a:off x="772998" y="1244338"/>
            <a:ext cx="10312924" cy="5004061"/>
          </a:xfrm>
        </p:spPr>
        <p:txBody>
          <a:bodyPr/>
          <a:lstStyle/>
          <a:p>
            <a:pPr lvl="0"/>
            <a:r>
              <a:rPr lang="en-IN" dirty="0"/>
              <a:t>Scope Estimator and Version Comparison — alternative Extended Capabilities not selected for this build.</a:t>
            </a:r>
          </a:p>
          <a:p>
            <a:pPr lvl="0"/>
            <a:endParaRPr lang="en-IN" dirty="0"/>
          </a:p>
          <a:p>
            <a:pPr lvl="0"/>
            <a:r>
              <a:rPr lang="en-IN" dirty="0"/>
              <a:t>Fine-tuning of the Requirement Extractor on messy transcript data.</a:t>
            </a:r>
          </a:p>
          <a:p>
            <a:pPr lvl="0"/>
            <a:endParaRPr lang="en-IN" dirty="0"/>
          </a:p>
          <a:p>
            <a:pPr lvl="0"/>
            <a:r>
              <a:rPr lang="en-IN" dirty="0"/>
              <a:t>RAG-based retrieval over a historical library of past PRDs (the current template is embedded as a static, swappable input rather than retrieved).</a:t>
            </a:r>
          </a:p>
          <a:p>
            <a:pPr lvl="0"/>
            <a:endParaRPr lang="en-IN" dirty="0"/>
          </a:p>
          <a:p>
            <a:pPr lvl="0"/>
            <a:r>
              <a:rPr lang="en-IN" dirty="0"/>
              <a:t>Automated ticket creation in Jira/Confluence or other downstream PM tooling integration.</a:t>
            </a:r>
          </a:p>
          <a:p>
            <a:endParaRPr lang="en-IN" dirty="0"/>
          </a:p>
        </p:txBody>
      </p:sp>
    </p:spTree>
    <p:extLst>
      <p:ext uri="{BB962C8B-B14F-4D97-AF65-F5344CB8AC3E}">
        <p14:creationId xmlns:p14="http://schemas.microsoft.com/office/powerpoint/2010/main" val="1317435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6EC6B-5F2B-AF61-A74A-B911B7FF7B4A}"/>
              </a:ext>
            </a:extLst>
          </p:cNvPr>
          <p:cNvSpPr>
            <a:spLocks noGrp="1"/>
          </p:cNvSpPr>
          <p:nvPr>
            <p:ph type="title"/>
          </p:nvPr>
        </p:nvSpPr>
        <p:spPr>
          <a:xfrm>
            <a:off x="646111" y="452718"/>
            <a:ext cx="9404723" cy="753913"/>
          </a:xfrm>
        </p:spPr>
        <p:txBody>
          <a:bodyPr/>
          <a:lstStyle/>
          <a:p>
            <a:r>
              <a:rPr lang="en-IN" sz="3600" b="1" dirty="0"/>
              <a:t>Design and Architecture Details</a:t>
            </a:r>
            <a:endParaRPr lang="en-IN" sz="3600" dirty="0"/>
          </a:p>
        </p:txBody>
      </p:sp>
      <p:sp>
        <p:nvSpPr>
          <p:cNvPr id="3" name="Content Placeholder 2">
            <a:extLst>
              <a:ext uri="{FF2B5EF4-FFF2-40B4-BE49-F238E27FC236}">
                <a16:creationId xmlns:a16="http://schemas.microsoft.com/office/drawing/2014/main" id="{190F83E2-8590-DBDC-988D-ADC83376C7E2}"/>
              </a:ext>
            </a:extLst>
          </p:cNvPr>
          <p:cNvSpPr>
            <a:spLocks noGrp="1"/>
          </p:cNvSpPr>
          <p:nvPr>
            <p:ph idx="1"/>
          </p:nvPr>
        </p:nvSpPr>
        <p:spPr>
          <a:xfrm>
            <a:off x="716438" y="1140644"/>
            <a:ext cx="10350630" cy="5107756"/>
          </a:xfrm>
        </p:spPr>
        <p:txBody>
          <a:bodyPr>
            <a:normAutofit fontScale="92500" lnSpcReduction="10000"/>
          </a:bodyPr>
          <a:lstStyle/>
          <a:p>
            <a:pPr marL="0" indent="0">
              <a:buNone/>
            </a:pPr>
            <a:r>
              <a:rPr lang="en-IN" b="1" dirty="0"/>
              <a:t>Design and Architecture Details</a:t>
            </a:r>
          </a:p>
          <a:p>
            <a:r>
              <a:rPr lang="en-IN" dirty="0"/>
              <a:t>PRD Genie is built as a multi-agent pipeline in n8n: source documents are ingested from Google Drive, passed through a chain of LLM agents and deterministic checks, and exported as a traced, evaluated result. The pipeline is not a single straight line — it includes two deterministic decision gates that can short-circuit or conditionally extend the flow depending on what earlier stages find.</a:t>
            </a:r>
          </a:p>
          <a:p>
            <a:pPr marL="0" indent="0">
              <a:buNone/>
            </a:pPr>
            <a:endParaRPr lang="en-IN" dirty="0"/>
          </a:p>
          <a:p>
            <a:pPr marL="0" indent="0">
              <a:buNone/>
            </a:pPr>
            <a:r>
              <a:rPr lang="en-IN" b="1" dirty="0"/>
              <a:t>Stage-by-stage breakup</a:t>
            </a:r>
            <a:r>
              <a:rPr lang="en-IN" b="1" baseline="30000" dirty="0"/>
              <a:t>*</a:t>
            </a:r>
            <a:endParaRPr lang="en-IN" b="1" dirty="0"/>
          </a:p>
          <a:p>
            <a:r>
              <a:rPr lang="en-IN" dirty="0"/>
              <a:t>Source documents (Google Drive) — Search → Download → Extract</a:t>
            </a:r>
          </a:p>
          <a:p>
            <a:r>
              <a:rPr lang="en-IN" dirty="0"/>
              <a:t>Requirement Extractor Agent → Requirement Aggregator</a:t>
            </a:r>
          </a:p>
          <a:p>
            <a:r>
              <a:rPr lang="en-IN" dirty="0"/>
              <a:t>Check If Empty Requirement (deterministic gate)</a:t>
            </a:r>
          </a:p>
          <a:p>
            <a:r>
              <a:rPr lang="en-IN" dirty="0"/>
              <a:t>Gap Analyzer Agent — cross-references the consolidated requirements</a:t>
            </a:r>
          </a:p>
          <a:p>
            <a:endParaRPr lang="en-IN" dirty="0"/>
          </a:p>
          <a:p>
            <a:pPr marL="0" indent="0">
              <a:buNone/>
            </a:pPr>
            <a:r>
              <a:rPr lang="en-IN" sz="1700" i="1" dirty="0"/>
              <a:t>*Agent Details are provided in the writeup for the Response of Q3 for “Build PRD Genie”</a:t>
            </a:r>
          </a:p>
        </p:txBody>
      </p:sp>
    </p:spTree>
    <p:extLst>
      <p:ext uri="{BB962C8B-B14F-4D97-AF65-F5344CB8AC3E}">
        <p14:creationId xmlns:p14="http://schemas.microsoft.com/office/powerpoint/2010/main" val="3706504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C0FDE-2207-936C-F649-EDB30A354837}"/>
              </a:ext>
            </a:extLst>
          </p:cNvPr>
          <p:cNvSpPr>
            <a:spLocks noGrp="1"/>
          </p:cNvSpPr>
          <p:nvPr>
            <p:ph type="title"/>
          </p:nvPr>
        </p:nvSpPr>
        <p:spPr>
          <a:xfrm>
            <a:off x="646111" y="452718"/>
            <a:ext cx="9404723" cy="650218"/>
          </a:xfrm>
        </p:spPr>
        <p:txBody>
          <a:bodyPr/>
          <a:lstStyle/>
          <a:p>
            <a:r>
              <a:rPr lang="en-US" sz="3600" b="1" dirty="0"/>
              <a:t>Design Contd.</a:t>
            </a:r>
            <a:endParaRPr lang="en-IN" sz="3600" b="1" dirty="0"/>
          </a:p>
        </p:txBody>
      </p:sp>
      <p:sp>
        <p:nvSpPr>
          <p:cNvPr id="3" name="Content Placeholder 2">
            <a:extLst>
              <a:ext uri="{FF2B5EF4-FFF2-40B4-BE49-F238E27FC236}">
                <a16:creationId xmlns:a16="http://schemas.microsoft.com/office/drawing/2014/main" id="{D2DFB029-AD11-947B-0EA1-080A5609C9B9}"/>
              </a:ext>
            </a:extLst>
          </p:cNvPr>
          <p:cNvSpPr>
            <a:spLocks noGrp="1"/>
          </p:cNvSpPr>
          <p:nvPr>
            <p:ph idx="1"/>
          </p:nvPr>
        </p:nvSpPr>
        <p:spPr>
          <a:xfrm>
            <a:off x="772998" y="1102936"/>
            <a:ext cx="10397765" cy="5145463"/>
          </a:xfrm>
        </p:spPr>
        <p:txBody>
          <a:bodyPr/>
          <a:lstStyle/>
          <a:p>
            <a:r>
              <a:rPr lang="en-IN" dirty="0"/>
              <a:t>PRD Template (Set) → Merge → PRD Generator Agent</a:t>
            </a:r>
          </a:p>
          <a:p>
            <a:r>
              <a:rPr lang="en-IN" dirty="0"/>
              <a:t>Critique Agent → Resolver Agent</a:t>
            </a:r>
          </a:p>
          <a:p>
            <a:r>
              <a:rPr lang="en-IN" dirty="0"/>
              <a:t>Grounding Validator (deterministic, Code node)</a:t>
            </a:r>
          </a:p>
          <a:p>
            <a:r>
              <a:rPr lang="en-IN" dirty="0"/>
              <a:t>Final PRD — the grounded, validated checkpoint passed to Story Breakdown.</a:t>
            </a:r>
          </a:p>
          <a:p>
            <a:r>
              <a:rPr lang="en-IN" dirty="0"/>
              <a:t>Story Breakdown Agent → Story Evaluator (deterministic) → Completeness Gate</a:t>
            </a:r>
          </a:p>
          <a:p>
            <a:r>
              <a:rPr lang="en-IN" dirty="0"/>
              <a:t>Story Finalizer Agent (conditional) — invoked only if the Completeness Gate finds gaps;</a:t>
            </a:r>
          </a:p>
          <a:p>
            <a:r>
              <a:rPr lang="en-IN" dirty="0"/>
              <a:t>Prepare </a:t>
            </a:r>
            <a:r>
              <a:rPr lang="en-IN" dirty="0" err="1"/>
              <a:t>Langfuse</a:t>
            </a:r>
            <a:r>
              <a:rPr lang="en-IN" dirty="0"/>
              <a:t> Payload → </a:t>
            </a:r>
            <a:r>
              <a:rPr lang="en-IN" dirty="0" err="1"/>
              <a:t>Langfuse</a:t>
            </a:r>
            <a:r>
              <a:rPr lang="en-IN" dirty="0"/>
              <a:t> ingestion</a:t>
            </a:r>
          </a:p>
          <a:p>
            <a:endParaRPr lang="en-IN" dirty="0"/>
          </a:p>
          <a:p>
            <a:pPr marL="0" indent="0">
              <a:buNone/>
            </a:pPr>
            <a:r>
              <a:rPr lang="en-IN" sz="1600" i="1" dirty="0"/>
              <a:t>*Agent Details are provided in the writeup for the Response of Q3 for “Build PRD Genie”</a:t>
            </a:r>
          </a:p>
          <a:p>
            <a:pPr marL="0" indent="0">
              <a:buNone/>
            </a:pPr>
            <a:endParaRPr lang="en-IN" dirty="0"/>
          </a:p>
        </p:txBody>
      </p:sp>
    </p:spTree>
    <p:extLst>
      <p:ext uri="{BB962C8B-B14F-4D97-AF65-F5344CB8AC3E}">
        <p14:creationId xmlns:p14="http://schemas.microsoft.com/office/powerpoint/2010/main" val="2841319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330E7-46FE-2B0F-4F6A-7F19C2F8060C}"/>
              </a:ext>
            </a:extLst>
          </p:cNvPr>
          <p:cNvSpPr>
            <a:spLocks noGrp="1"/>
          </p:cNvSpPr>
          <p:nvPr>
            <p:ph type="title"/>
          </p:nvPr>
        </p:nvSpPr>
        <p:spPr>
          <a:xfrm>
            <a:off x="623877" y="217817"/>
            <a:ext cx="9404723" cy="763340"/>
          </a:xfrm>
        </p:spPr>
        <p:txBody>
          <a:bodyPr/>
          <a:lstStyle/>
          <a:p>
            <a:r>
              <a:rPr lang="en-IN" sz="3600" b="1" dirty="0"/>
              <a:t>PRD Ginie - Architecture Diagram</a:t>
            </a:r>
            <a:endParaRPr lang="en-IN" sz="3600" dirty="0"/>
          </a:p>
        </p:txBody>
      </p:sp>
      <p:pic>
        <p:nvPicPr>
          <p:cNvPr id="4" name="Content Placeholder 3">
            <a:extLst>
              <a:ext uri="{FF2B5EF4-FFF2-40B4-BE49-F238E27FC236}">
                <a16:creationId xmlns:a16="http://schemas.microsoft.com/office/drawing/2014/main" id="{7B40C2FE-868E-A46B-27AC-9DD71075CF65}"/>
              </a:ext>
            </a:extLst>
          </p:cNvPr>
          <p:cNvPicPr>
            <a:picLocks noGrp="1" noChangeAspect="1"/>
          </p:cNvPicPr>
          <p:nvPr>
            <p:ph idx="1"/>
          </p:nvPr>
        </p:nvPicPr>
        <p:blipFill>
          <a:blip r:embed="rId2"/>
          <a:srcRect/>
          <a:stretch>
            <a:fillRect/>
          </a:stretch>
        </p:blipFill>
        <p:spPr bwMode="auto">
          <a:xfrm>
            <a:off x="2705493" y="981157"/>
            <a:ext cx="5241492" cy="5806142"/>
          </a:xfrm>
          <a:prstGeom prst="rect">
            <a:avLst/>
          </a:prstGeom>
        </p:spPr>
      </p:pic>
    </p:spTree>
    <p:extLst>
      <p:ext uri="{BB962C8B-B14F-4D97-AF65-F5344CB8AC3E}">
        <p14:creationId xmlns:p14="http://schemas.microsoft.com/office/powerpoint/2010/main" val="2152402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FF74B-EAB2-5FAA-CC43-9C012137A8D8}"/>
              </a:ext>
            </a:extLst>
          </p:cNvPr>
          <p:cNvSpPr>
            <a:spLocks noGrp="1"/>
          </p:cNvSpPr>
          <p:nvPr>
            <p:ph type="title"/>
          </p:nvPr>
        </p:nvSpPr>
        <p:spPr>
          <a:xfrm>
            <a:off x="646111" y="452718"/>
            <a:ext cx="9404723" cy="772767"/>
          </a:xfrm>
        </p:spPr>
        <p:txBody>
          <a:bodyPr/>
          <a:lstStyle/>
          <a:p>
            <a:r>
              <a:rPr lang="en-IN" b="1" dirty="0"/>
              <a:t>Orchestration Pattern</a:t>
            </a:r>
            <a:endParaRPr lang="en-IN" dirty="0"/>
          </a:p>
        </p:txBody>
      </p:sp>
      <p:sp>
        <p:nvSpPr>
          <p:cNvPr id="3" name="Content Placeholder 2">
            <a:extLst>
              <a:ext uri="{FF2B5EF4-FFF2-40B4-BE49-F238E27FC236}">
                <a16:creationId xmlns:a16="http://schemas.microsoft.com/office/drawing/2014/main" id="{D88C1847-DCBA-4EC5-BC6D-104316BFD0C7}"/>
              </a:ext>
            </a:extLst>
          </p:cNvPr>
          <p:cNvSpPr>
            <a:spLocks noGrp="1"/>
          </p:cNvSpPr>
          <p:nvPr>
            <p:ph idx="1"/>
          </p:nvPr>
        </p:nvSpPr>
        <p:spPr>
          <a:xfrm>
            <a:off x="810706" y="1300900"/>
            <a:ext cx="9239148" cy="4947500"/>
          </a:xfrm>
        </p:spPr>
        <p:txBody>
          <a:bodyPr/>
          <a:lstStyle/>
          <a:p>
            <a:r>
              <a:rPr lang="en-IN" dirty="0"/>
              <a:t>PRD Genie uses a Sequential Pipeline as its primary orchestration pattern </a:t>
            </a:r>
          </a:p>
          <a:p>
            <a:r>
              <a:rPr lang="en-IN" dirty="0"/>
              <a:t>Requirement Extraction → Gap Analysis → PRD Generation → Story Breakdown</a:t>
            </a:r>
          </a:p>
          <a:p>
            <a:r>
              <a:rPr lang="en-IN" dirty="0"/>
              <a:t>With two reflection sub-patterns layered on top </a:t>
            </a:r>
          </a:p>
          <a:p>
            <a:r>
              <a:rPr lang="en-IN" dirty="0"/>
              <a:t>A Critique → Resolver loop after PRD generation, </a:t>
            </a:r>
          </a:p>
          <a:p>
            <a:r>
              <a:rPr lang="en-IN" dirty="0"/>
              <a:t>And a Story Evaluator → Story Finalizer conditional patch after Story Breakdown.</a:t>
            </a:r>
          </a:p>
          <a:p>
            <a:r>
              <a:rPr lang="en-IN" dirty="0"/>
              <a:t>A deterministic short-circuit also breaks the strict sequential flow: if the Requirement Extractor finds nothing extractable across all sources, the pipeline terminates immediately rather than running five more agents against empty input</a:t>
            </a:r>
          </a:p>
          <a:p>
            <a:endParaRPr lang="en-IN" dirty="0"/>
          </a:p>
        </p:txBody>
      </p:sp>
    </p:spTree>
    <p:extLst>
      <p:ext uri="{BB962C8B-B14F-4D97-AF65-F5344CB8AC3E}">
        <p14:creationId xmlns:p14="http://schemas.microsoft.com/office/powerpoint/2010/main" val="3798373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6BB2D-37F9-6415-87B1-C93F1F816561}"/>
              </a:ext>
            </a:extLst>
          </p:cNvPr>
          <p:cNvSpPr>
            <a:spLocks noGrp="1"/>
          </p:cNvSpPr>
          <p:nvPr>
            <p:ph type="title"/>
          </p:nvPr>
        </p:nvSpPr>
        <p:spPr>
          <a:xfrm>
            <a:off x="646111" y="452718"/>
            <a:ext cx="9404723" cy="753913"/>
          </a:xfrm>
        </p:spPr>
        <p:txBody>
          <a:bodyPr/>
          <a:lstStyle/>
          <a:p>
            <a:r>
              <a:rPr lang="en-US" sz="3600" b="1" dirty="0"/>
              <a:t>TOOL CHOICE</a:t>
            </a:r>
            <a:endParaRPr lang="en-IN" sz="3600" b="1" dirty="0"/>
          </a:p>
        </p:txBody>
      </p:sp>
      <p:sp>
        <p:nvSpPr>
          <p:cNvPr id="3" name="Content Placeholder 2">
            <a:extLst>
              <a:ext uri="{FF2B5EF4-FFF2-40B4-BE49-F238E27FC236}">
                <a16:creationId xmlns:a16="http://schemas.microsoft.com/office/drawing/2014/main" id="{FB4FD55D-B266-7F8B-F7AF-196C1DD5078F}"/>
              </a:ext>
            </a:extLst>
          </p:cNvPr>
          <p:cNvSpPr>
            <a:spLocks noGrp="1"/>
          </p:cNvSpPr>
          <p:nvPr>
            <p:ph idx="1"/>
          </p:nvPr>
        </p:nvSpPr>
        <p:spPr>
          <a:xfrm>
            <a:off x="645131" y="1291472"/>
            <a:ext cx="10506778" cy="4956927"/>
          </a:xfrm>
        </p:spPr>
        <p:txBody>
          <a:bodyPr>
            <a:normAutofit lnSpcReduction="10000"/>
          </a:bodyPr>
          <a:lstStyle/>
          <a:p>
            <a:r>
              <a:rPr lang="en-IN" b="1" dirty="0"/>
              <a:t>n8n </a:t>
            </a:r>
            <a:r>
              <a:rPr lang="en-IN" dirty="0"/>
              <a:t>— a visual, </a:t>
            </a:r>
            <a:r>
              <a:rPr lang="en-IN" dirty="0" err="1"/>
              <a:t>debuggable</a:t>
            </a:r>
            <a:r>
              <a:rPr lang="en-IN" dirty="0"/>
              <a:t> node graph was essential given how many multi-agent handoff bugs this build surfaced during development</a:t>
            </a:r>
            <a:br>
              <a:rPr lang="en-IN" dirty="0"/>
            </a:br>
            <a:endParaRPr lang="en-IN" dirty="0"/>
          </a:p>
          <a:p>
            <a:r>
              <a:rPr lang="en-IN" b="1" dirty="0"/>
              <a:t>OpenAI </a:t>
            </a:r>
            <a:r>
              <a:rPr lang="en-IN" dirty="0"/>
              <a:t>structured outputs (strict JSON Schema) — used at every agent boundary so each agent receives a stable, </a:t>
            </a:r>
            <a:r>
              <a:rPr lang="en-IN" dirty="0" err="1"/>
              <a:t>parseable</a:t>
            </a:r>
            <a:r>
              <a:rPr lang="en-IN" dirty="0"/>
              <a:t> shape from the one before it</a:t>
            </a:r>
            <a:br>
              <a:rPr lang="en-IN" dirty="0"/>
            </a:br>
            <a:endParaRPr lang="en-IN" dirty="0"/>
          </a:p>
          <a:p>
            <a:r>
              <a:rPr lang="en-IN" b="1" dirty="0"/>
              <a:t>Google Drive </a:t>
            </a:r>
            <a:r>
              <a:rPr lang="en-IN" dirty="0"/>
              <a:t>— chosen as the ingestion source specifically to address the “documents sit unused” pain point, rather than requiring manual paste-in.</a:t>
            </a:r>
            <a:br>
              <a:rPr lang="en-IN" dirty="0"/>
            </a:br>
            <a:endParaRPr lang="en-IN" dirty="0"/>
          </a:p>
          <a:p>
            <a:r>
              <a:rPr lang="en-IN" b="1" dirty="0" err="1"/>
              <a:t>Langfuse</a:t>
            </a:r>
            <a:r>
              <a:rPr lang="en-IN" dirty="0"/>
              <a:t> — connected via OTLP export from Code nodes rather than a native </a:t>
            </a:r>
            <a:r>
              <a:rPr lang="en-IN" dirty="0" err="1"/>
              <a:t>LangChain</a:t>
            </a:r>
            <a:r>
              <a:rPr lang="en-IN" dirty="0"/>
              <a:t> integration, since n8n is not a </a:t>
            </a:r>
            <a:r>
              <a:rPr lang="en-IN" dirty="0" err="1"/>
              <a:t>LangChain</a:t>
            </a:r>
            <a:r>
              <a:rPr lang="en-IN" dirty="0"/>
              <a:t>-based stack</a:t>
            </a:r>
            <a:br>
              <a:rPr lang="en-IN" dirty="0"/>
            </a:br>
            <a:endParaRPr lang="en-IN" dirty="0"/>
          </a:p>
          <a:p>
            <a:r>
              <a:rPr lang="en-IN" b="1" dirty="0"/>
              <a:t>Deterministic Code nodes </a:t>
            </a:r>
            <a:r>
              <a:rPr lang="en-IN" dirty="0"/>
              <a:t>— used in place of additional LLM calls wherever a check is mechanically verifiable</a:t>
            </a:r>
          </a:p>
        </p:txBody>
      </p:sp>
    </p:spTree>
    <p:extLst>
      <p:ext uri="{BB962C8B-B14F-4D97-AF65-F5344CB8AC3E}">
        <p14:creationId xmlns:p14="http://schemas.microsoft.com/office/powerpoint/2010/main" val="3767089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D828A-3BC8-21BC-995F-D7C3DC60B154}"/>
              </a:ext>
            </a:extLst>
          </p:cNvPr>
          <p:cNvSpPr>
            <a:spLocks noGrp="1"/>
          </p:cNvSpPr>
          <p:nvPr>
            <p:ph type="title"/>
          </p:nvPr>
        </p:nvSpPr>
        <p:spPr>
          <a:xfrm>
            <a:off x="646111" y="452718"/>
            <a:ext cx="9404723" cy="810474"/>
          </a:xfrm>
        </p:spPr>
        <p:txBody>
          <a:bodyPr/>
          <a:lstStyle/>
          <a:p>
            <a:r>
              <a:rPr lang="en-IN" sz="3600" b="1" dirty="0"/>
              <a:t>Observability</a:t>
            </a:r>
            <a:endParaRPr lang="en-IN" sz="3600" dirty="0"/>
          </a:p>
        </p:txBody>
      </p:sp>
      <p:sp>
        <p:nvSpPr>
          <p:cNvPr id="3" name="Content Placeholder 2">
            <a:extLst>
              <a:ext uri="{FF2B5EF4-FFF2-40B4-BE49-F238E27FC236}">
                <a16:creationId xmlns:a16="http://schemas.microsoft.com/office/drawing/2014/main" id="{DF07D48B-D276-0106-3863-E43BEF644263}"/>
              </a:ext>
            </a:extLst>
          </p:cNvPr>
          <p:cNvSpPr>
            <a:spLocks noGrp="1"/>
          </p:cNvSpPr>
          <p:nvPr>
            <p:ph idx="1"/>
          </p:nvPr>
        </p:nvSpPr>
        <p:spPr>
          <a:xfrm>
            <a:off x="645130" y="1121790"/>
            <a:ext cx="10478499" cy="5126609"/>
          </a:xfrm>
        </p:spPr>
        <p:txBody>
          <a:bodyPr>
            <a:normAutofit/>
          </a:bodyPr>
          <a:lstStyle/>
          <a:p>
            <a:r>
              <a:rPr lang="en-IN" sz="1600" dirty="0"/>
              <a:t>All seven LLM agents plus both deterministic checks are traced through a single pipeline run using </a:t>
            </a:r>
            <a:r>
              <a:rPr lang="en-IN" sz="1600" dirty="0" err="1"/>
              <a:t>Langfuse</a:t>
            </a:r>
            <a:r>
              <a:rPr lang="en-IN" sz="1600" dirty="0"/>
              <a:t>, </a:t>
            </a:r>
          </a:p>
          <a:p>
            <a:r>
              <a:rPr lang="en-IN" sz="1600" dirty="0"/>
              <a:t>Connected via a manually constructed OTLP export rather than a native </a:t>
            </a:r>
            <a:r>
              <a:rPr lang="en-IN" sz="1600" dirty="0" err="1"/>
              <a:t>LangChain</a:t>
            </a:r>
            <a:r>
              <a:rPr lang="en-IN" sz="1600" dirty="0"/>
              <a:t> integration (n8n is not a </a:t>
            </a:r>
            <a:r>
              <a:rPr lang="en-IN" sz="1600" dirty="0" err="1"/>
              <a:t>LangChain</a:t>
            </a:r>
            <a:r>
              <a:rPr lang="en-IN" sz="1600" dirty="0"/>
              <a:t>-based stack, </a:t>
            </a:r>
          </a:p>
          <a:p>
            <a:r>
              <a:rPr lang="en-IN" sz="1600" dirty="0"/>
              <a:t>This required assembling OTLP trace/span payloads by hand, using </a:t>
            </a:r>
            <a:r>
              <a:rPr lang="en-IN" sz="1600" dirty="0" err="1"/>
              <a:t>Langfuse</a:t>
            </a:r>
            <a:r>
              <a:rPr lang="en-IN" sz="1600" dirty="0"/>
              <a:t>-specific semantic attribute keys such as langfuse.trace.* and </a:t>
            </a:r>
            <a:r>
              <a:rPr lang="en-IN" sz="1600" dirty="0" err="1"/>
              <a:t>langfuse.observation</a:t>
            </a:r>
            <a:r>
              <a:rPr lang="en-IN" sz="1600" dirty="0"/>
              <a:t>.*)</a:t>
            </a:r>
          </a:p>
          <a:p>
            <a:endParaRPr lang="en-IN" sz="1600" dirty="0"/>
          </a:p>
          <a:p>
            <a:r>
              <a:rPr lang="en-IN" sz="1600" b="1" dirty="0"/>
              <a:t>Trace structure : </a:t>
            </a:r>
            <a:r>
              <a:rPr lang="en-IN" sz="1600" dirty="0"/>
              <a:t>Each run produces one parent trace with a child span per stage. Every trace is tagged with </a:t>
            </a:r>
            <a:r>
              <a:rPr lang="en-IN" sz="1600" dirty="0" err="1"/>
              <a:t>batch_id</a:t>
            </a:r>
            <a:r>
              <a:rPr lang="en-IN" sz="1600" dirty="0"/>
              <a:t> &amp; </a:t>
            </a:r>
            <a:r>
              <a:rPr lang="en-IN" sz="1600" dirty="0" err="1"/>
              <a:t>expected_criteria</a:t>
            </a:r>
            <a:r>
              <a:rPr lang="en-IN" sz="1600" dirty="0"/>
              <a:t> metadata identifying which baseline test(s) </a:t>
            </a:r>
          </a:p>
          <a:p>
            <a:r>
              <a:rPr lang="en-IN" sz="1600" b="1" dirty="0"/>
              <a:t>LLM-as-Judge evaluation.</a:t>
            </a:r>
            <a:r>
              <a:rPr lang="en-IN" sz="1600" dirty="0"/>
              <a:t> A </a:t>
            </a:r>
            <a:r>
              <a:rPr lang="en-IN" sz="1600" dirty="0" err="1"/>
              <a:t>Langfuse</a:t>
            </a:r>
            <a:r>
              <a:rPr lang="en-IN" sz="1600" dirty="0"/>
              <a:t> Evaluator, configured with its own model connection, scores each trace's final output against its tagged </a:t>
            </a:r>
            <a:r>
              <a:rPr lang="en-IN" sz="1600" dirty="0" err="1"/>
              <a:t>expected_criteria</a:t>
            </a:r>
            <a:r>
              <a:rPr lang="en-IN" sz="1600" dirty="0"/>
              <a:t> and attaches a pass/fail score with written reasoning </a:t>
            </a:r>
          </a:p>
          <a:p>
            <a:r>
              <a:rPr lang="en-IN" sz="1600" b="1" dirty="0"/>
              <a:t>Short-circuit : </a:t>
            </a:r>
            <a:r>
              <a:rPr lang="en-IN" sz="1600" dirty="0"/>
              <a:t>When the Requirement Extractor finds zero stated requirements, ambiguous items, or missing information across every source, the pipeline terminates immediately after extraction rather than running five more agents against empty input.</a:t>
            </a:r>
            <a:endParaRPr lang="en-IN" sz="1200" dirty="0"/>
          </a:p>
        </p:txBody>
      </p:sp>
    </p:spTree>
    <p:extLst>
      <p:ext uri="{BB962C8B-B14F-4D97-AF65-F5344CB8AC3E}">
        <p14:creationId xmlns:p14="http://schemas.microsoft.com/office/powerpoint/2010/main" val="20176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E0EC-05CD-36A1-5624-577F78D76CB4}"/>
              </a:ext>
            </a:extLst>
          </p:cNvPr>
          <p:cNvSpPr>
            <a:spLocks noGrp="1"/>
          </p:cNvSpPr>
          <p:nvPr>
            <p:ph type="title"/>
          </p:nvPr>
        </p:nvSpPr>
        <p:spPr>
          <a:xfrm>
            <a:off x="646111" y="452718"/>
            <a:ext cx="9404723" cy="603084"/>
          </a:xfrm>
        </p:spPr>
        <p:txBody>
          <a:bodyPr/>
          <a:lstStyle/>
          <a:p>
            <a:r>
              <a:rPr lang="en-US" sz="3600" b="1" dirty="0"/>
              <a:t>Baseline Test</a:t>
            </a:r>
            <a:endParaRPr lang="en-IN" sz="3600" b="1" dirty="0"/>
          </a:p>
        </p:txBody>
      </p:sp>
      <p:sp>
        <p:nvSpPr>
          <p:cNvPr id="3" name="Content Placeholder 2">
            <a:extLst>
              <a:ext uri="{FF2B5EF4-FFF2-40B4-BE49-F238E27FC236}">
                <a16:creationId xmlns:a16="http://schemas.microsoft.com/office/drawing/2014/main" id="{5194D075-ED67-A794-8C08-F0E53C70FA58}"/>
              </a:ext>
            </a:extLst>
          </p:cNvPr>
          <p:cNvSpPr>
            <a:spLocks noGrp="1"/>
          </p:cNvSpPr>
          <p:nvPr>
            <p:ph idx="1"/>
          </p:nvPr>
        </p:nvSpPr>
        <p:spPr>
          <a:xfrm>
            <a:off x="744718" y="1055802"/>
            <a:ext cx="10378911" cy="5192597"/>
          </a:xfrm>
        </p:spPr>
        <p:txBody>
          <a:bodyPr/>
          <a:lstStyle/>
          <a:p>
            <a:r>
              <a:rPr lang="en-IN" dirty="0"/>
              <a:t>All the 12 Baseline test cases are tested by creating relevant sample input files using LLM </a:t>
            </a:r>
            <a:br>
              <a:rPr lang="en-IN" dirty="0"/>
            </a:br>
            <a:endParaRPr lang="en-IN" dirty="0"/>
          </a:p>
          <a:p>
            <a:r>
              <a:rPr lang="en-IN" dirty="0"/>
              <a:t>Combining the test cases where possible, thus the 12 test cases are captured in 7 Sample Input files S1 through S7. </a:t>
            </a:r>
            <a:br>
              <a:rPr lang="en-IN" dirty="0"/>
            </a:br>
            <a:endParaRPr lang="en-IN" dirty="0"/>
          </a:p>
          <a:p>
            <a:r>
              <a:rPr lang="en-IN" dirty="0"/>
              <a:t>The Expected Criteria and file name along with an Identifier Batch ID is selected in the Batch Selector Node</a:t>
            </a:r>
            <a:br>
              <a:rPr lang="en-IN" dirty="0"/>
            </a:br>
            <a:endParaRPr lang="en-IN" dirty="0"/>
          </a:p>
          <a:p>
            <a:r>
              <a:rPr lang="en-IN" dirty="0"/>
              <a:t>Once the tracing available in </a:t>
            </a:r>
            <a:r>
              <a:rPr lang="en-IN" dirty="0" err="1"/>
              <a:t>Langfuse</a:t>
            </a:r>
            <a:r>
              <a:rPr lang="en-IN" dirty="0"/>
              <a:t>, the result is tested via LLM based evaluator that scores 0/1 for fail and pass and provides a model reasoning summary for the result </a:t>
            </a:r>
            <a:br>
              <a:rPr lang="en-IN" dirty="0"/>
            </a:br>
            <a:endParaRPr lang="en-IN" dirty="0"/>
          </a:p>
          <a:p>
            <a:pPr marL="0" indent="0">
              <a:buNone/>
            </a:pPr>
            <a:r>
              <a:rPr lang="en-IN" sz="1600" i="1" dirty="0"/>
              <a:t>**All Test case details with dataset tested and results are documented in file “Test Cases.xlsx”</a:t>
            </a:r>
          </a:p>
          <a:p>
            <a:endParaRPr lang="en-IN" dirty="0"/>
          </a:p>
        </p:txBody>
      </p:sp>
    </p:spTree>
    <p:extLst>
      <p:ext uri="{BB962C8B-B14F-4D97-AF65-F5344CB8AC3E}">
        <p14:creationId xmlns:p14="http://schemas.microsoft.com/office/powerpoint/2010/main" val="841676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6A7AD-E66C-78BB-2077-B404AE0D1F00}"/>
              </a:ext>
            </a:extLst>
          </p:cNvPr>
          <p:cNvSpPr>
            <a:spLocks noGrp="1"/>
          </p:cNvSpPr>
          <p:nvPr>
            <p:ph type="title"/>
          </p:nvPr>
        </p:nvSpPr>
        <p:spPr>
          <a:xfrm>
            <a:off x="646111" y="452718"/>
            <a:ext cx="9404723" cy="744486"/>
          </a:xfrm>
        </p:spPr>
        <p:txBody>
          <a:bodyPr/>
          <a:lstStyle/>
          <a:p>
            <a:r>
              <a:rPr lang="en-IN" sz="3600" b="1" dirty="0"/>
              <a:t>Cost Analysis</a:t>
            </a:r>
            <a:endParaRPr lang="en-IN" sz="3600" dirty="0"/>
          </a:p>
        </p:txBody>
      </p:sp>
      <p:graphicFrame>
        <p:nvGraphicFramePr>
          <p:cNvPr id="4" name="Content Placeholder 3">
            <a:extLst>
              <a:ext uri="{FF2B5EF4-FFF2-40B4-BE49-F238E27FC236}">
                <a16:creationId xmlns:a16="http://schemas.microsoft.com/office/drawing/2014/main" id="{E2BB4CDC-E00A-A6A1-3A77-373A8EEF3ECD}"/>
              </a:ext>
            </a:extLst>
          </p:cNvPr>
          <p:cNvGraphicFramePr>
            <a:graphicFrameLocks noGrp="1"/>
          </p:cNvGraphicFramePr>
          <p:nvPr>
            <p:ph idx="1"/>
            <p:extLst>
              <p:ext uri="{D42A27DB-BD31-4B8C-83A1-F6EECF244321}">
                <p14:modId xmlns:p14="http://schemas.microsoft.com/office/powerpoint/2010/main" val="189658265"/>
              </p:ext>
            </p:extLst>
          </p:nvPr>
        </p:nvGraphicFramePr>
        <p:xfrm>
          <a:off x="876692" y="1300899"/>
          <a:ext cx="10265787" cy="5222449"/>
        </p:xfrm>
        <a:graphic>
          <a:graphicData uri="http://schemas.openxmlformats.org/drawingml/2006/table">
            <a:tbl>
              <a:tblPr/>
              <a:tblGrid>
                <a:gridCol w="1466541">
                  <a:extLst>
                    <a:ext uri="{9D8B030D-6E8A-4147-A177-3AD203B41FA5}">
                      <a16:colId xmlns:a16="http://schemas.microsoft.com/office/drawing/2014/main" val="1033124263"/>
                    </a:ext>
                  </a:extLst>
                </a:gridCol>
                <a:gridCol w="1466541">
                  <a:extLst>
                    <a:ext uri="{9D8B030D-6E8A-4147-A177-3AD203B41FA5}">
                      <a16:colId xmlns:a16="http://schemas.microsoft.com/office/drawing/2014/main" val="2532837884"/>
                    </a:ext>
                  </a:extLst>
                </a:gridCol>
                <a:gridCol w="1466541">
                  <a:extLst>
                    <a:ext uri="{9D8B030D-6E8A-4147-A177-3AD203B41FA5}">
                      <a16:colId xmlns:a16="http://schemas.microsoft.com/office/drawing/2014/main" val="625978505"/>
                    </a:ext>
                  </a:extLst>
                </a:gridCol>
                <a:gridCol w="1466541">
                  <a:extLst>
                    <a:ext uri="{9D8B030D-6E8A-4147-A177-3AD203B41FA5}">
                      <a16:colId xmlns:a16="http://schemas.microsoft.com/office/drawing/2014/main" val="1839808477"/>
                    </a:ext>
                  </a:extLst>
                </a:gridCol>
                <a:gridCol w="1466541">
                  <a:extLst>
                    <a:ext uri="{9D8B030D-6E8A-4147-A177-3AD203B41FA5}">
                      <a16:colId xmlns:a16="http://schemas.microsoft.com/office/drawing/2014/main" val="3082431188"/>
                    </a:ext>
                  </a:extLst>
                </a:gridCol>
                <a:gridCol w="1466541">
                  <a:extLst>
                    <a:ext uri="{9D8B030D-6E8A-4147-A177-3AD203B41FA5}">
                      <a16:colId xmlns:a16="http://schemas.microsoft.com/office/drawing/2014/main" val="2765013125"/>
                    </a:ext>
                  </a:extLst>
                </a:gridCol>
                <a:gridCol w="1466541">
                  <a:extLst>
                    <a:ext uri="{9D8B030D-6E8A-4147-A177-3AD203B41FA5}">
                      <a16:colId xmlns:a16="http://schemas.microsoft.com/office/drawing/2014/main" val="2364933750"/>
                    </a:ext>
                  </a:extLst>
                </a:gridCol>
              </a:tblGrid>
              <a:tr h="487428">
                <a:tc>
                  <a:txBody>
                    <a:bodyPr/>
                    <a:lstStyle/>
                    <a:p>
                      <a:pPr>
                        <a:buNone/>
                      </a:pPr>
                      <a:r>
                        <a:rPr lang="en-IN" sz="1100"/>
                        <a:t>Agent</a:t>
                      </a:r>
                    </a:p>
                  </a:txBody>
                  <a:tcPr marL="55943" marR="55943" marT="27972" marB="27972" anchor="ctr">
                    <a:lnL>
                      <a:noFill/>
                    </a:lnL>
                    <a:lnR>
                      <a:noFill/>
                    </a:lnR>
                    <a:lnT>
                      <a:noFill/>
                    </a:lnT>
                    <a:lnB>
                      <a:noFill/>
                    </a:lnB>
                    <a:noFill/>
                  </a:tcPr>
                </a:tc>
                <a:tc>
                  <a:txBody>
                    <a:bodyPr/>
                    <a:lstStyle/>
                    <a:p>
                      <a:pPr>
                        <a:buNone/>
                      </a:pPr>
                      <a:r>
                        <a:rPr lang="en-IN" sz="1100"/>
                        <a:t>Temperature</a:t>
                      </a:r>
                    </a:p>
                  </a:txBody>
                  <a:tcPr marL="55943" marR="55943" marT="27972" marB="27972" anchor="ctr">
                    <a:lnL>
                      <a:noFill/>
                    </a:lnL>
                    <a:lnR>
                      <a:noFill/>
                    </a:lnR>
                    <a:lnT>
                      <a:noFill/>
                    </a:lnT>
                    <a:lnB>
                      <a:noFill/>
                    </a:lnB>
                    <a:noFill/>
                  </a:tcPr>
                </a:tc>
                <a:tc>
                  <a:txBody>
                    <a:bodyPr/>
                    <a:lstStyle/>
                    <a:p>
                      <a:pPr>
                        <a:buNone/>
                      </a:pPr>
                      <a:r>
                        <a:rPr lang="en-IN" sz="1100"/>
                        <a:t>Calls</a:t>
                      </a:r>
                    </a:p>
                  </a:txBody>
                  <a:tcPr marL="55943" marR="55943" marT="27972" marB="27972" anchor="ctr">
                    <a:lnL>
                      <a:noFill/>
                    </a:lnL>
                    <a:lnR>
                      <a:noFill/>
                    </a:lnR>
                    <a:lnT>
                      <a:noFill/>
                    </a:lnT>
                    <a:lnB>
                      <a:noFill/>
                    </a:lnB>
                    <a:noFill/>
                  </a:tcPr>
                </a:tc>
                <a:tc>
                  <a:txBody>
                    <a:bodyPr/>
                    <a:lstStyle/>
                    <a:p>
                      <a:pPr>
                        <a:buNone/>
                      </a:pPr>
                      <a:r>
                        <a:rPr lang="en-IN" sz="1100" dirty="0"/>
                        <a:t>Input token</a:t>
                      </a:r>
                    </a:p>
                  </a:txBody>
                  <a:tcPr marL="55943" marR="55943" marT="27972" marB="27972" anchor="ctr">
                    <a:lnL>
                      <a:noFill/>
                    </a:lnL>
                    <a:lnR>
                      <a:noFill/>
                    </a:lnR>
                    <a:lnT>
                      <a:noFill/>
                    </a:lnT>
                    <a:lnB>
                      <a:noFill/>
                    </a:lnB>
                    <a:noFill/>
                  </a:tcPr>
                </a:tc>
                <a:tc>
                  <a:txBody>
                    <a:bodyPr/>
                    <a:lstStyle/>
                    <a:p>
                      <a:pPr>
                        <a:buNone/>
                      </a:pPr>
                      <a:r>
                        <a:rPr lang="en-IN" sz="1100" dirty="0"/>
                        <a:t>Output token</a:t>
                      </a:r>
                    </a:p>
                  </a:txBody>
                  <a:tcPr marL="55943" marR="55943" marT="27972" marB="27972" anchor="ctr">
                    <a:lnL>
                      <a:noFill/>
                    </a:lnL>
                    <a:lnR>
                      <a:noFill/>
                    </a:lnR>
                    <a:lnT>
                      <a:noFill/>
                    </a:lnT>
                    <a:lnB>
                      <a:noFill/>
                    </a:lnB>
                    <a:noFill/>
                  </a:tcPr>
                </a:tc>
                <a:tc>
                  <a:txBody>
                    <a:bodyPr/>
                    <a:lstStyle/>
                    <a:p>
                      <a:pPr>
                        <a:buNone/>
                      </a:pPr>
                      <a:r>
                        <a:rPr lang="en-IN" sz="1100"/>
                        <a:t>Cost</a:t>
                      </a:r>
                    </a:p>
                  </a:txBody>
                  <a:tcPr marL="55943" marR="55943" marT="27972" marB="27972" anchor="ctr">
                    <a:lnL>
                      <a:noFill/>
                    </a:lnL>
                    <a:lnR>
                      <a:noFill/>
                    </a:lnR>
                    <a:lnT>
                      <a:noFill/>
                    </a:lnT>
                    <a:lnB>
                      <a:noFill/>
                    </a:lnB>
                    <a:noFill/>
                  </a:tcPr>
                </a:tc>
                <a:tc>
                  <a:txBody>
                    <a:bodyPr/>
                    <a:lstStyle/>
                    <a:p>
                      <a:pPr>
                        <a:buNone/>
                      </a:pPr>
                      <a:r>
                        <a:rPr lang="en-IN" sz="1100"/>
                        <a:t>Source</a:t>
                      </a:r>
                    </a:p>
                  </a:txBody>
                  <a:tcPr marL="55943" marR="55943" marT="27972" marB="27972" anchor="ctr">
                    <a:lnL>
                      <a:noFill/>
                    </a:lnL>
                    <a:lnR>
                      <a:noFill/>
                    </a:lnR>
                    <a:lnT>
                      <a:noFill/>
                    </a:lnT>
                    <a:lnB>
                      <a:noFill/>
                    </a:lnB>
                    <a:noFill/>
                  </a:tcPr>
                </a:tc>
                <a:extLst>
                  <a:ext uri="{0D108BD9-81ED-4DB2-BD59-A6C34878D82A}">
                    <a16:rowId xmlns:a16="http://schemas.microsoft.com/office/drawing/2014/main" val="3846745280"/>
                  </a:ext>
                </a:extLst>
              </a:tr>
              <a:tr h="696327">
                <a:tc>
                  <a:txBody>
                    <a:bodyPr/>
                    <a:lstStyle/>
                    <a:p>
                      <a:pPr>
                        <a:buNone/>
                      </a:pPr>
                      <a:r>
                        <a:rPr lang="en-IN" sz="1100"/>
                        <a:t>Requirement Extractor</a:t>
                      </a:r>
                    </a:p>
                  </a:txBody>
                  <a:tcPr marL="55943" marR="55943" marT="27972" marB="27972" anchor="ctr">
                    <a:lnL>
                      <a:noFill/>
                    </a:lnL>
                    <a:lnR>
                      <a:noFill/>
                    </a:lnR>
                    <a:lnT>
                      <a:noFill/>
                    </a:lnT>
                    <a:lnB>
                      <a:noFill/>
                    </a:lnB>
                    <a:noFill/>
                  </a:tcPr>
                </a:tc>
                <a:tc>
                  <a:txBody>
                    <a:bodyPr/>
                    <a:lstStyle/>
                    <a:p>
                      <a:pPr>
                        <a:buNone/>
                      </a:pPr>
                      <a:r>
                        <a:rPr lang="en-IN" sz="1100"/>
                        <a:t>0.2</a:t>
                      </a:r>
                    </a:p>
                  </a:txBody>
                  <a:tcPr marL="55943" marR="55943" marT="27972" marB="27972" anchor="ctr">
                    <a:lnL>
                      <a:noFill/>
                    </a:lnL>
                    <a:lnR>
                      <a:noFill/>
                    </a:lnR>
                    <a:lnT>
                      <a:noFill/>
                    </a:lnT>
                    <a:lnB>
                      <a:noFill/>
                    </a:lnB>
                    <a:noFill/>
                  </a:tcPr>
                </a:tc>
                <a:tc>
                  <a:txBody>
                    <a:bodyPr/>
                    <a:lstStyle/>
                    <a:p>
                      <a:pPr>
                        <a:buNone/>
                      </a:pPr>
                      <a:r>
                        <a:rPr lang="en-IN" sz="1100"/>
                        <a:t>3</a:t>
                      </a:r>
                    </a:p>
                  </a:txBody>
                  <a:tcPr marL="55943" marR="55943" marT="27972" marB="27972" anchor="ctr">
                    <a:lnL>
                      <a:noFill/>
                    </a:lnL>
                    <a:lnR>
                      <a:noFill/>
                    </a:lnR>
                    <a:lnT>
                      <a:noFill/>
                    </a:lnT>
                    <a:lnB>
                      <a:noFill/>
                    </a:lnB>
                    <a:noFill/>
                  </a:tcPr>
                </a:tc>
                <a:tc>
                  <a:txBody>
                    <a:bodyPr/>
                    <a:lstStyle/>
                    <a:p>
                      <a:pPr>
                        <a:buNone/>
                      </a:pPr>
                      <a:r>
                        <a:rPr lang="en-IN" sz="1100"/>
                        <a:t>3,956</a:t>
                      </a:r>
                    </a:p>
                  </a:txBody>
                  <a:tcPr marL="55943" marR="55943" marT="27972" marB="27972" anchor="ctr">
                    <a:lnL>
                      <a:noFill/>
                    </a:lnL>
                    <a:lnR>
                      <a:noFill/>
                    </a:lnR>
                    <a:lnT>
                      <a:noFill/>
                    </a:lnT>
                    <a:lnB>
                      <a:noFill/>
                    </a:lnB>
                    <a:noFill/>
                  </a:tcPr>
                </a:tc>
                <a:tc>
                  <a:txBody>
                    <a:bodyPr/>
                    <a:lstStyle/>
                    <a:p>
                      <a:pPr>
                        <a:buNone/>
                      </a:pPr>
                      <a:r>
                        <a:rPr lang="en-IN" sz="1100"/>
                        <a:t>1,975</a:t>
                      </a:r>
                    </a:p>
                  </a:txBody>
                  <a:tcPr marL="55943" marR="55943" marT="27972" marB="27972" anchor="ctr">
                    <a:lnL>
                      <a:noFill/>
                    </a:lnL>
                    <a:lnR>
                      <a:noFill/>
                    </a:lnR>
                    <a:lnT>
                      <a:noFill/>
                    </a:lnT>
                    <a:lnB>
                      <a:noFill/>
                    </a:lnB>
                    <a:noFill/>
                  </a:tcPr>
                </a:tc>
                <a:tc>
                  <a:txBody>
                    <a:bodyPr/>
                    <a:lstStyle/>
                    <a:p>
                      <a:pPr>
                        <a:buNone/>
                      </a:pPr>
                      <a:r>
                        <a:rPr lang="en-IN" sz="1100"/>
                        <a:t>$0.0018</a:t>
                      </a:r>
                    </a:p>
                  </a:txBody>
                  <a:tcPr marL="55943" marR="55943" marT="27972" marB="27972" anchor="ctr">
                    <a:lnL>
                      <a:noFill/>
                    </a:lnL>
                    <a:lnR>
                      <a:noFill/>
                    </a:lnR>
                    <a:lnT>
                      <a:noFill/>
                    </a:lnT>
                    <a:lnB>
                      <a:noFill/>
                    </a:lnB>
                    <a:noFill/>
                  </a:tcPr>
                </a:tc>
                <a:tc>
                  <a:txBody>
                    <a:bodyPr/>
                    <a:lstStyle/>
                    <a:p>
                      <a:pPr>
                        <a:buNone/>
                      </a:pPr>
                      <a:r>
                        <a:rPr lang="en-IN" sz="1100" b="1"/>
                        <a:t>Measured</a:t>
                      </a:r>
                      <a:endParaRPr lang="en-IN" sz="1100"/>
                    </a:p>
                  </a:txBody>
                  <a:tcPr marL="55943" marR="55943" marT="27972" marB="27972" anchor="ctr">
                    <a:lnL>
                      <a:noFill/>
                    </a:lnL>
                    <a:lnR>
                      <a:noFill/>
                    </a:lnR>
                    <a:lnT>
                      <a:noFill/>
                    </a:lnT>
                    <a:lnB>
                      <a:noFill/>
                    </a:lnB>
                    <a:noFill/>
                  </a:tcPr>
                </a:tc>
                <a:extLst>
                  <a:ext uri="{0D108BD9-81ED-4DB2-BD59-A6C34878D82A}">
                    <a16:rowId xmlns:a16="http://schemas.microsoft.com/office/drawing/2014/main" val="88483142"/>
                  </a:ext>
                </a:extLst>
              </a:tr>
              <a:tr h="487428">
                <a:tc>
                  <a:txBody>
                    <a:bodyPr/>
                    <a:lstStyle/>
                    <a:p>
                      <a:pPr>
                        <a:buNone/>
                      </a:pPr>
                      <a:r>
                        <a:rPr lang="en-IN" sz="1100"/>
                        <a:t>Gap Analyzer</a:t>
                      </a:r>
                    </a:p>
                  </a:txBody>
                  <a:tcPr marL="55943" marR="55943" marT="27972" marB="27972" anchor="ctr">
                    <a:lnL>
                      <a:noFill/>
                    </a:lnL>
                    <a:lnR>
                      <a:noFill/>
                    </a:lnR>
                    <a:lnT>
                      <a:noFill/>
                    </a:lnT>
                    <a:lnB>
                      <a:noFill/>
                    </a:lnB>
                    <a:noFill/>
                  </a:tcPr>
                </a:tc>
                <a:tc>
                  <a:txBody>
                    <a:bodyPr/>
                    <a:lstStyle/>
                    <a:p>
                      <a:pPr>
                        <a:buNone/>
                      </a:pPr>
                      <a:r>
                        <a:rPr lang="en-IN" sz="1100"/>
                        <a:t>0.2</a:t>
                      </a:r>
                    </a:p>
                  </a:txBody>
                  <a:tcPr marL="55943" marR="55943" marT="27972" marB="27972" anchor="ctr">
                    <a:lnL>
                      <a:noFill/>
                    </a:lnL>
                    <a:lnR>
                      <a:noFill/>
                    </a:lnR>
                    <a:lnT>
                      <a:noFill/>
                    </a:lnT>
                    <a:lnB>
                      <a:noFill/>
                    </a:lnB>
                    <a:noFill/>
                  </a:tcPr>
                </a:tc>
                <a:tc>
                  <a:txBody>
                    <a:bodyPr/>
                    <a:lstStyle/>
                    <a:p>
                      <a:pPr>
                        <a:buNone/>
                      </a:pPr>
                      <a:r>
                        <a:rPr lang="en-IN" sz="1100"/>
                        <a:t>1</a:t>
                      </a:r>
                    </a:p>
                  </a:txBody>
                  <a:tcPr marL="55943" marR="55943" marT="27972" marB="27972" anchor="ctr">
                    <a:lnL>
                      <a:noFill/>
                    </a:lnL>
                    <a:lnR>
                      <a:noFill/>
                    </a:lnR>
                    <a:lnT>
                      <a:noFill/>
                    </a:lnT>
                    <a:lnB>
                      <a:noFill/>
                    </a:lnB>
                    <a:noFill/>
                  </a:tcPr>
                </a:tc>
                <a:tc>
                  <a:txBody>
                    <a:bodyPr/>
                    <a:lstStyle/>
                    <a:p>
                      <a:pPr>
                        <a:buNone/>
                      </a:pPr>
                      <a:r>
                        <a:rPr lang="en-IN" sz="1100" dirty="0"/>
                        <a:t>2,286</a:t>
                      </a:r>
                    </a:p>
                  </a:txBody>
                  <a:tcPr marL="55943" marR="55943" marT="27972" marB="27972" anchor="ctr">
                    <a:lnL>
                      <a:noFill/>
                    </a:lnL>
                    <a:lnR>
                      <a:noFill/>
                    </a:lnR>
                    <a:lnT>
                      <a:noFill/>
                    </a:lnT>
                    <a:lnB>
                      <a:noFill/>
                    </a:lnB>
                    <a:noFill/>
                  </a:tcPr>
                </a:tc>
                <a:tc>
                  <a:txBody>
                    <a:bodyPr/>
                    <a:lstStyle/>
                    <a:p>
                      <a:pPr>
                        <a:buNone/>
                      </a:pPr>
                      <a:r>
                        <a:rPr lang="en-IN" sz="1100"/>
                        <a:t>346</a:t>
                      </a:r>
                    </a:p>
                  </a:txBody>
                  <a:tcPr marL="55943" marR="55943" marT="27972" marB="27972" anchor="ctr">
                    <a:lnL>
                      <a:noFill/>
                    </a:lnL>
                    <a:lnR>
                      <a:noFill/>
                    </a:lnR>
                    <a:lnT>
                      <a:noFill/>
                    </a:lnT>
                    <a:lnB>
                      <a:noFill/>
                    </a:lnB>
                    <a:noFill/>
                  </a:tcPr>
                </a:tc>
                <a:tc>
                  <a:txBody>
                    <a:bodyPr/>
                    <a:lstStyle/>
                    <a:p>
                      <a:pPr>
                        <a:buNone/>
                      </a:pPr>
                      <a:r>
                        <a:rPr lang="en-IN" sz="1100"/>
                        <a:t>$0.0006</a:t>
                      </a:r>
                    </a:p>
                  </a:txBody>
                  <a:tcPr marL="55943" marR="55943" marT="27972" marB="27972" anchor="ctr">
                    <a:lnL>
                      <a:noFill/>
                    </a:lnL>
                    <a:lnR>
                      <a:noFill/>
                    </a:lnR>
                    <a:lnT>
                      <a:noFill/>
                    </a:lnT>
                    <a:lnB>
                      <a:noFill/>
                    </a:lnB>
                    <a:noFill/>
                  </a:tcPr>
                </a:tc>
                <a:tc>
                  <a:txBody>
                    <a:bodyPr/>
                    <a:lstStyle/>
                    <a:p>
                      <a:pPr>
                        <a:buNone/>
                      </a:pPr>
                      <a:r>
                        <a:rPr lang="en-IN" sz="1100" b="1"/>
                        <a:t>Measured</a:t>
                      </a:r>
                      <a:endParaRPr lang="en-IN" sz="1100"/>
                    </a:p>
                  </a:txBody>
                  <a:tcPr marL="55943" marR="55943" marT="27972" marB="27972" anchor="ctr">
                    <a:lnL>
                      <a:noFill/>
                    </a:lnL>
                    <a:lnR>
                      <a:noFill/>
                    </a:lnR>
                    <a:lnT>
                      <a:noFill/>
                    </a:lnT>
                    <a:lnB>
                      <a:noFill/>
                    </a:lnB>
                    <a:noFill/>
                  </a:tcPr>
                </a:tc>
                <a:extLst>
                  <a:ext uri="{0D108BD9-81ED-4DB2-BD59-A6C34878D82A}">
                    <a16:rowId xmlns:a16="http://schemas.microsoft.com/office/drawing/2014/main" val="1392922927"/>
                  </a:ext>
                </a:extLst>
              </a:tr>
              <a:tr h="696327">
                <a:tc>
                  <a:txBody>
                    <a:bodyPr/>
                    <a:lstStyle/>
                    <a:p>
                      <a:pPr>
                        <a:buNone/>
                      </a:pPr>
                      <a:r>
                        <a:rPr lang="en-IN" sz="1100"/>
                        <a:t>PRD Generator</a:t>
                      </a:r>
                    </a:p>
                  </a:txBody>
                  <a:tcPr marL="55943" marR="55943" marT="27972" marB="27972" anchor="ctr">
                    <a:lnL>
                      <a:noFill/>
                    </a:lnL>
                    <a:lnR>
                      <a:noFill/>
                    </a:lnR>
                    <a:lnT>
                      <a:noFill/>
                    </a:lnT>
                    <a:lnB>
                      <a:noFill/>
                    </a:lnB>
                    <a:noFill/>
                  </a:tcPr>
                </a:tc>
                <a:tc>
                  <a:txBody>
                    <a:bodyPr/>
                    <a:lstStyle/>
                    <a:p>
                      <a:pPr>
                        <a:buNone/>
                      </a:pPr>
                      <a:r>
                        <a:rPr lang="en-IN" sz="1100"/>
                        <a:t>0.2</a:t>
                      </a:r>
                    </a:p>
                  </a:txBody>
                  <a:tcPr marL="55943" marR="55943" marT="27972" marB="27972" anchor="ctr">
                    <a:lnL>
                      <a:noFill/>
                    </a:lnL>
                    <a:lnR>
                      <a:noFill/>
                    </a:lnR>
                    <a:lnT>
                      <a:noFill/>
                    </a:lnT>
                    <a:lnB>
                      <a:noFill/>
                    </a:lnB>
                    <a:noFill/>
                  </a:tcPr>
                </a:tc>
                <a:tc>
                  <a:txBody>
                    <a:bodyPr/>
                    <a:lstStyle/>
                    <a:p>
                      <a:pPr>
                        <a:buNone/>
                      </a:pPr>
                      <a:r>
                        <a:rPr lang="en-IN" sz="1100"/>
                        <a:t>1</a:t>
                      </a:r>
                    </a:p>
                  </a:txBody>
                  <a:tcPr marL="55943" marR="55943" marT="27972" marB="27972" anchor="ctr">
                    <a:lnL>
                      <a:noFill/>
                    </a:lnL>
                    <a:lnR>
                      <a:noFill/>
                    </a:lnR>
                    <a:lnT>
                      <a:noFill/>
                    </a:lnT>
                    <a:lnB>
                      <a:noFill/>
                    </a:lnB>
                    <a:noFill/>
                  </a:tcPr>
                </a:tc>
                <a:tc>
                  <a:txBody>
                    <a:bodyPr/>
                    <a:lstStyle/>
                    <a:p>
                      <a:pPr>
                        <a:buNone/>
                      </a:pPr>
                      <a:r>
                        <a:rPr lang="en-IN" sz="1100"/>
                        <a:t>3,920</a:t>
                      </a:r>
                    </a:p>
                  </a:txBody>
                  <a:tcPr marL="55943" marR="55943" marT="27972" marB="27972" anchor="ctr">
                    <a:lnL>
                      <a:noFill/>
                    </a:lnL>
                    <a:lnR>
                      <a:noFill/>
                    </a:lnR>
                    <a:lnT>
                      <a:noFill/>
                    </a:lnT>
                    <a:lnB>
                      <a:noFill/>
                    </a:lnB>
                    <a:noFill/>
                  </a:tcPr>
                </a:tc>
                <a:tc>
                  <a:txBody>
                    <a:bodyPr/>
                    <a:lstStyle/>
                    <a:p>
                      <a:pPr>
                        <a:buNone/>
                      </a:pPr>
                      <a:r>
                        <a:rPr lang="en-IN" sz="1100"/>
                        <a:t>1,577</a:t>
                      </a:r>
                    </a:p>
                  </a:txBody>
                  <a:tcPr marL="55943" marR="55943" marT="27972" marB="27972" anchor="ctr">
                    <a:lnL>
                      <a:noFill/>
                    </a:lnL>
                    <a:lnR>
                      <a:noFill/>
                    </a:lnR>
                    <a:lnT>
                      <a:noFill/>
                    </a:lnT>
                    <a:lnB>
                      <a:noFill/>
                    </a:lnB>
                    <a:noFill/>
                  </a:tcPr>
                </a:tc>
                <a:tc>
                  <a:txBody>
                    <a:bodyPr/>
                    <a:lstStyle/>
                    <a:p>
                      <a:pPr>
                        <a:buNone/>
                      </a:pPr>
                      <a:r>
                        <a:rPr lang="en-IN" sz="1100"/>
                        <a:t>$0.0015</a:t>
                      </a:r>
                    </a:p>
                  </a:txBody>
                  <a:tcPr marL="55943" marR="55943" marT="27972" marB="27972" anchor="ctr">
                    <a:lnL>
                      <a:noFill/>
                    </a:lnL>
                    <a:lnR>
                      <a:noFill/>
                    </a:lnR>
                    <a:lnT>
                      <a:noFill/>
                    </a:lnT>
                    <a:lnB>
                      <a:noFill/>
                    </a:lnB>
                    <a:noFill/>
                  </a:tcPr>
                </a:tc>
                <a:tc>
                  <a:txBody>
                    <a:bodyPr/>
                    <a:lstStyle/>
                    <a:p>
                      <a:pPr>
                        <a:buNone/>
                      </a:pPr>
                      <a:r>
                        <a:rPr lang="en-IN" sz="1100" b="1"/>
                        <a:t>Measured</a:t>
                      </a:r>
                      <a:endParaRPr lang="en-IN" sz="1100"/>
                    </a:p>
                  </a:txBody>
                  <a:tcPr marL="55943" marR="55943" marT="27972" marB="27972" anchor="ctr">
                    <a:lnL>
                      <a:noFill/>
                    </a:lnL>
                    <a:lnR>
                      <a:noFill/>
                    </a:lnR>
                    <a:lnT>
                      <a:noFill/>
                    </a:lnT>
                    <a:lnB>
                      <a:noFill/>
                    </a:lnB>
                    <a:noFill/>
                  </a:tcPr>
                </a:tc>
                <a:extLst>
                  <a:ext uri="{0D108BD9-81ED-4DB2-BD59-A6C34878D82A}">
                    <a16:rowId xmlns:a16="http://schemas.microsoft.com/office/drawing/2014/main" val="3145014809"/>
                  </a:ext>
                </a:extLst>
              </a:tr>
              <a:tr h="487428">
                <a:tc>
                  <a:txBody>
                    <a:bodyPr/>
                    <a:lstStyle/>
                    <a:p>
                      <a:pPr>
                        <a:buNone/>
                      </a:pPr>
                      <a:r>
                        <a:rPr lang="en-IN" sz="1100"/>
                        <a:t>Critique Agent</a:t>
                      </a:r>
                    </a:p>
                  </a:txBody>
                  <a:tcPr marL="55943" marR="55943" marT="27972" marB="27972" anchor="ctr">
                    <a:lnL>
                      <a:noFill/>
                    </a:lnL>
                    <a:lnR>
                      <a:noFill/>
                    </a:lnR>
                    <a:lnT>
                      <a:noFill/>
                    </a:lnT>
                    <a:lnB>
                      <a:noFill/>
                    </a:lnB>
                    <a:noFill/>
                  </a:tcPr>
                </a:tc>
                <a:tc>
                  <a:txBody>
                    <a:bodyPr/>
                    <a:lstStyle/>
                    <a:p>
                      <a:pPr>
                        <a:buNone/>
                      </a:pPr>
                      <a:r>
                        <a:rPr lang="en-IN" sz="1100"/>
                        <a:t>0.0</a:t>
                      </a:r>
                    </a:p>
                  </a:txBody>
                  <a:tcPr marL="55943" marR="55943" marT="27972" marB="27972" anchor="ctr">
                    <a:lnL>
                      <a:noFill/>
                    </a:lnL>
                    <a:lnR>
                      <a:noFill/>
                    </a:lnR>
                    <a:lnT>
                      <a:noFill/>
                    </a:lnT>
                    <a:lnB>
                      <a:noFill/>
                    </a:lnB>
                    <a:noFill/>
                  </a:tcPr>
                </a:tc>
                <a:tc>
                  <a:txBody>
                    <a:bodyPr/>
                    <a:lstStyle/>
                    <a:p>
                      <a:pPr>
                        <a:buNone/>
                      </a:pPr>
                      <a:r>
                        <a:rPr lang="en-IN" sz="1100"/>
                        <a:t>1</a:t>
                      </a:r>
                    </a:p>
                  </a:txBody>
                  <a:tcPr marL="55943" marR="55943" marT="27972" marB="27972" anchor="ctr">
                    <a:lnL>
                      <a:noFill/>
                    </a:lnL>
                    <a:lnR>
                      <a:noFill/>
                    </a:lnR>
                    <a:lnT>
                      <a:noFill/>
                    </a:lnT>
                    <a:lnB>
                      <a:noFill/>
                    </a:lnB>
                    <a:noFill/>
                  </a:tcPr>
                </a:tc>
                <a:tc>
                  <a:txBody>
                    <a:bodyPr/>
                    <a:lstStyle/>
                    <a:p>
                      <a:pPr>
                        <a:buNone/>
                      </a:pPr>
                      <a:r>
                        <a:rPr lang="en-IN" sz="1100"/>
                        <a:t>5,015</a:t>
                      </a:r>
                    </a:p>
                  </a:txBody>
                  <a:tcPr marL="55943" marR="55943" marT="27972" marB="27972" anchor="ctr">
                    <a:lnL>
                      <a:noFill/>
                    </a:lnL>
                    <a:lnR>
                      <a:noFill/>
                    </a:lnR>
                    <a:lnT>
                      <a:noFill/>
                    </a:lnT>
                    <a:lnB>
                      <a:noFill/>
                    </a:lnB>
                    <a:noFill/>
                  </a:tcPr>
                </a:tc>
                <a:tc>
                  <a:txBody>
                    <a:bodyPr/>
                    <a:lstStyle/>
                    <a:p>
                      <a:pPr>
                        <a:buNone/>
                      </a:pPr>
                      <a:r>
                        <a:rPr lang="en-IN" sz="1100"/>
                        <a:t>724</a:t>
                      </a:r>
                    </a:p>
                  </a:txBody>
                  <a:tcPr marL="55943" marR="55943" marT="27972" marB="27972" anchor="ctr">
                    <a:lnL>
                      <a:noFill/>
                    </a:lnL>
                    <a:lnR>
                      <a:noFill/>
                    </a:lnR>
                    <a:lnT>
                      <a:noFill/>
                    </a:lnT>
                    <a:lnB>
                      <a:noFill/>
                    </a:lnB>
                    <a:noFill/>
                  </a:tcPr>
                </a:tc>
                <a:tc>
                  <a:txBody>
                    <a:bodyPr/>
                    <a:lstStyle/>
                    <a:p>
                      <a:pPr>
                        <a:buNone/>
                      </a:pPr>
                      <a:r>
                        <a:rPr lang="en-IN" sz="1100"/>
                        <a:t>$0.0012</a:t>
                      </a:r>
                    </a:p>
                  </a:txBody>
                  <a:tcPr marL="55943" marR="55943" marT="27972" marB="27972" anchor="ctr">
                    <a:lnL>
                      <a:noFill/>
                    </a:lnL>
                    <a:lnR>
                      <a:noFill/>
                    </a:lnR>
                    <a:lnT>
                      <a:noFill/>
                    </a:lnT>
                    <a:lnB>
                      <a:noFill/>
                    </a:lnB>
                    <a:noFill/>
                  </a:tcPr>
                </a:tc>
                <a:tc>
                  <a:txBody>
                    <a:bodyPr/>
                    <a:lstStyle/>
                    <a:p>
                      <a:pPr>
                        <a:buNone/>
                      </a:pPr>
                      <a:r>
                        <a:rPr lang="en-IN" sz="1100" b="1"/>
                        <a:t>Measured</a:t>
                      </a:r>
                      <a:endParaRPr lang="en-IN" sz="1100"/>
                    </a:p>
                  </a:txBody>
                  <a:tcPr marL="55943" marR="55943" marT="27972" marB="27972" anchor="ctr">
                    <a:lnL>
                      <a:noFill/>
                    </a:lnL>
                    <a:lnR>
                      <a:noFill/>
                    </a:lnR>
                    <a:lnT>
                      <a:noFill/>
                    </a:lnT>
                    <a:lnB>
                      <a:noFill/>
                    </a:lnB>
                    <a:noFill/>
                  </a:tcPr>
                </a:tc>
                <a:extLst>
                  <a:ext uri="{0D108BD9-81ED-4DB2-BD59-A6C34878D82A}">
                    <a16:rowId xmlns:a16="http://schemas.microsoft.com/office/drawing/2014/main" val="298835568"/>
                  </a:ext>
                </a:extLst>
              </a:tr>
              <a:tr h="487428">
                <a:tc>
                  <a:txBody>
                    <a:bodyPr/>
                    <a:lstStyle/>
                    <a:p>
                      <a:pPr>
                        <a:buNone/>
                      </a:pPr>
                      <a:r>
                        <a:rPr lang="en-IN" sz="1100"/>
                        <a:t>Resolver</a:t>
                      </a:r>
                    </a:p>
                  </a:txBody>
                  <a:tcPr marL="55943" marR="55943" marT="27972" marB="27972" anchor="ctr">
                    <a:lnL>
                      <a:noFill/>
                    </a:lnL>
                    <a:lnR>
                      <a:noFill/>
                    </a:lnR>
                    <a:lnT>
                      <a:noFill/>
                    </a:lnT>
                    <a:lnB>
                      <a:noFill/>
                    </a:lnB>
                    <a:noFill/>
                  </a:tcPr>
                </a:tc>
                <a:tc>
                  <a:txBody>
                    <a:bodyPr/>
                    <a:lstStyle/>
                    <a:p>
                      <a:pPr>
                        <a:buNone/>
                      </a:pPr>
                      <a:r>
                        <a:rPr lang="en-IN" sz="1100"/>
                        <a:t>0.2</a:t>
                      </a:r>
                    </a:p>
                  </a:txBody>
                  <a:tcPr marL="55943" marR="55943" marT="27972" marB="27972" anchor="ctr">
                    <a:lnL>
                      <a:noFill/>
                    </a:lnL>
                    <a:lnR>
                      <a:noFill/>
                    </a:lnR>
                    <a:lnT>
                      <a:noFill/>
                    </a:lnT>
                    <a:lnB>
                      <a:noFill/>
                    </a:lnB>
                    <a:noFill/>
                  </a:tcPr>
                </a:tc>
                <a:tc>
                  <a:txBody>
                    <a:bodyPr/>
                    <a:lstStyle/>
                    <a:p>
                      <a:pPr>
                        <a:buNone/>
                      </a:pPr>
                      <a:r>
                        <a:rPr lang="en-IN" sz="1100"/>
                        <a:t>1</a:t>
                      </a:r>
                    </a:p>
                  </a:txBody>
                  <a:tcPr marL="55943" marR="55943" marT="27972" marB="27972" anchor="ctr">
                    <a:lnL>
                      <a:noFill/>
                    </a:lnL>
                    <a:lnR>
                      <a:noFill/>
                    </a:lnR>
                    <a:lnT>
                      <a:noFill/>
                    </a:lnT>
                    <a:lnB>
                      <a:noFill/>
                    </a:lnB>
                    <a:noFill/>
                  </a:tcPr>
                </a:tc>
                <a:tc>
                  <a:txBody>
                    <a:bodyPr/>
                    <a:lstStyle/>
                    <a:p>
                      <a:pPr>
                        <a:buNone/>
                      </a:pPr>
                      <a:r>
                        <a:rPr lang="en-IN" sz="1100"/>
                        <a:t>6,282</a:t>
                      </a:r>
                    </a:p>
                  </a:txBody>
                  <a:tcPr marL="55943" marR="55943" marT="27972" marB="27972" anchor="ctr">
                    <a:lnL>
                      <a:noFill/>
                    </a:lnL>
                    <a:lnR>
                      <a:noFill/>
                    </a:lnR>
                    <a:lnT>
                      <a:noFill/>
                    </a:lnT>
                    <a:lnB>
                      <a:noFill/>
                    </a:lnB>
                    <a:noFill/>
                  </a:tcPr>
                </a:tc>
                <a:tc>
                  <a:txBody>
                    <a:bodyPr/>
                    <a:lstStyle/>
                    <a:p>
                      <a:pPr>
                        <a:buNone/>
                      </a:pPr>
                      <a:r>
                        <a:rPr lang="en-IN" sz="1100"/>
                        <a:t>1,721</a:t>
                      </a:r>
                    </a:p>
                  </a:txBody>
                  <a:tcPr marL="55943" marR="55943" marT="27972" marB="27972" anchor="ctr">
                    <a:lnL>
                      <a:noFill/>
                    </a:lnL>
                    <a:lnR>
                      <a:noFill/>
                    </a:lnR>
                    <a:lnT>
                      <a:noFill/>
                    </a:lnT>
                    <a:lnB>
                      <a:noFill/>
                    </a:lnB>
                    <a:noFill/>
                  </a:tcPr>
                </a:tc>
                <a:tc>
                  <a:txBody>
                    <a:bodyPr/>
                    <a:lstStyle/>
                    <a:p>
                      <a:pPr>
                        <a:buNone/>
                      </a:pPr>
                      <a:r>
                        <a:rPr lang="en-IN" sz="1100"/>
                        <a:t>$0.0020</a:t>
                      </a:r>
                    </a:p>
                  </a:txBody>
                  <a:tcPr marL="55943" marR="55943" marT="27972" marB="27972" anchor="ctr">
                    <a:lnL>
                      <a:noFill/>
                    </a:lnL>
                    <a:lnR>
                      <a:noFill/>
                    </a:lnR>
                    <a:lnT>
                      <a:noFill/>
                    </a:lnT>
                    <a:lnB>
                      <a:noFill/>
                    </a:lnB>
                    <a:noFill/>
                  </a:tcPr>
                </a:tc>
                <a:tc>
                  <a:txBody>
                    <a:bodyPr/>
                    <a:lstStyle/>
                    <a:p>
                      <a:pPr>
                        <a:buNone/>
                      </a:pPr>
                      <a:r>
                        <a:rPr lang="en-IN" sz="1100" b="1"/>
                        <a:t>Measured</a:t>
                      </a:r>
                      <a:endParaRPr lang="en-IN" sz="1100"/>
                    </a:p>
                  </a:txBody>
                  <a:tcPr marL="55943" marR="55943" marT="27972" marB="27972" anchor="ctr">
                    <a:lnL>
                      <a:noFill/>
                    </a:lnL>
                    <a:lnR>
                      <a:noFill/>
                    </a:lnR>
                    <a:lnT>
                      <a:noFill/>
                    </a:lnT>
                    <a:lnB>
                      <a:noFill/>
                    </a:lnB>
                    <a:noFill/>
                  </a:tcPr>
                </a:tc>
                <a:extLst>
                  <a:ext uri="{0D108BD9-81ED-4DB2-BD59-A6C34878D82A}">
                    <a16:rowId xmlns:a16="http://schemas.microsoft.com/office/drawing/2014/main" val="2684669267"/>
                  </a:ext>
                </a:extLst>
              </a:tr>
              <a:tr h="696327">
                <a:tc>
                  <a:txBody>
                    <a:bodyPr/>
                    <a:lstStyle/>
                    <a:p>
                      <a:pPr>
                        <a:buNone/>
                      </a:pPr>
                      <a:r>
                        <a:rPr lang="en-IN" sz="1100"/>
                        <a:t>Story Breakdown</a:t>
                      </a:r>
                    </a:p>
                  </a:txBody>
                  <a:tcPr marL="55943" marR="55943" marT="27972" marB="27972" anchor="ctr">
                    <a:lnL>
                      <a:noFill/>
                    </a:lnL>
                    <a:lnR>
                      <a:noFill/>
                    </a:lnR>
                    <a:lnT>
                      <a:noFill/>
                    </a:lnT>
                    <a:lnB>
                      <a:noFill/>
                    </a:lnB>
                    <a:noFill/>
                  </a:tcPr>
                </a:tc>
                <a:tc>
                  <a:txBody>
                    <a:bodyPr/>
                    <a:lstStyle/>
                    <a:p>
                      <a:pPr>
                        <a:buNone/>
                      </a:pPr>
                      <a:r>
                        <a:rPr lang="en-IN" sz="1100"/>
                        <a:t>0.2</a:t>
                      </a:r>
                    </a:p>
                  </a:txBody>
                  <a:tcPr marL="55943" marR="55943" marT="27972" marB="27972" anchor="ctr">
                    <a:lnL>
                      <a:noFill/>
                    </a:lnL>
                    <a:lnR>
                      <a:noFill/>
                    </a:lnR>
                    <a:lnT>
                      <a:noFill/>
                    </a:lnT>
                    <a:lnB>
                      <a:noFill/>
                    </a:lnB>
                    <a:noFill/>
                  </a:tcPr>
                </a:tc>
                <a:tc>
                  <a:txBody>
                    <a:bodyPr/>
                    <a:lstStyle/>
                    <a:p>
                      <a:pPr>
                        <a:buNone/>
                      </a:pPr>
                      <a:r>
                        <a:rPr lang="en-IN" sz="1100"/>
                        <a:t>1</a:t>
                      </a:r>
                    </a:p>
                  </a:txBody>
                  <a:tcPr marL="55943" marR="55943" marT="27972" marB="27972" anchor="ctr">
                    <a:lnL>
                      <a:noFill/>
                    </a:lnL>
                    <a:lnR>
                      <a:noFill/>
                    </a:lnR>
                    <a:lnT>
                      <a:noFill/>
                    </a:lnT>
                    <a:lnB>
                      <a:noFill/>
                    </a:lnB>
                    <a:noFill/>
                  </a:tcPr>
                </a:tc>
                <a:tc>
                  <a:txBody>
                    <a:bodyPr/>
                    <a:lstStyle/>
                    <a:p>
                      <a:pPr>
                        <a:buNone/>
                      </a:pPr>
                      <a:r>
                        <a:rPr lang="en-IN" sz="1100"/>
                        <a:t>3,252</a:t>
                      </a:r>
                    </a:p>
                  </a:txBody>
                  <a:tcPr marL="55943" marR="55943" marT="27972" marB="27972" anchor="ctr">
                    <a:lnL>
                      <a:noFill/>
                    </a:lnL>
                    <a:lnR>
                      <a:noFill/>
                    </a:lnR>
                    <a:lnT>
                      <a:noFill/>
                    </a:lnT>
                    <a:lnB>
                      <a:noFill/>
                    </a:lnB>
                    <a:noFill/>
                  </a:tcPr>
                </a:tc>
                <a:tc>
                  <a:txBody>
                    <a:bodyPr/>
                    <a:lstStyle/>
                    <a:p>
                      <a:pPr>
                        <a:buNone/>
                      </a:pPr>
                      <a:r>
                        <a:rPr lang="en-IN" sz="1100"/>
                        <a:t>1,898</a:t>
                      </a:r>
                    </a:p>
                  </a:txBody>
                  <a:tcPr marL="55943" marR="55943" marT="27972" marB="27972" anchor="ctr">
                    <a:lnL>
                      <a:noFill/>
                    </a:lnL>
                    <a:lnR>
                      <a:noFill/>
                    </a:lnR>
                    <a:lnT>
                      <a:noFill/>
                    </a:lnT>
                    <a:lnB>
                      <a:noFill/>
                    </a:lnB>
                    <a:noFill/>
                  </a:tcPr>
                </a:tc>
                <a:tc>
                  <a:txBody>
                    <a:bodyPr/>
                    <a:lstStyle/>
                    <a:p>
                      <a:pPr>
                        <a:buNone/>
                      </a:pPr>
                      <a:r>
                        <a:rPr lang="en-IN" sz="1100"/>
                        <a:t>$0.0016</a:t>
                      </a:r>
                    </a:p>
                  </a:txBody>
                  <a:tcPr marL="55943" marR="55943" marT="27972" marB="27972" anchor="ctr">
                    <a:lnL>
                      <a:noFill/>
                    </a:lnL>
                    <a:lnR>
                      <a:noFill/>
                    </a:lnR>
                    <a:lnT>
                      <a:noFill/>
                    </a:lnT>
                    <a:lnB>
                      <a:noFill/>
                    </a:lnB>
                    <a:noFill/>
                  </a:tcPr>
                </a:tc>
                <a:tc>
                  <a:txBody>
                    <a:bodyPr/>
                    <a:lstStyle/>
                    <a:p>
                      <a:pPr>
                        <a:buNone/>
                      </a:pPr>
                      <a:r>
                        <a:rPr lang="en-IN" sz="1100" b="1"/>
                        <a:t>Measured</a:t>
                      </a:r>
                      <a:endParaRPr lang="en-IN" sz="1100"/>
                    </a:p>
                  </a:txBody>
                  <a:tcPr marL="55943" marR="55943" marT="27972" marB="27972" anchor="ctr">
                    <a:lnL>
                      <a:noFill/>
                    </a:lnL>
                    <a:lnR>
                      <a:noFill/>
                    </a:lnR>
                    <a:lnT>
                      <a:noFill/>
                    </a:lnT>
                    <a:lnB>
                      <a:noFill/>
                    </a:lnB>
                    <a:noFill/>
                  </a:tcPr>
                </a:tc>
                <a:extLst>
                  <a:ext uri="{0D108BD9-81ED-4DB2-BD59-A6C34878D82A}">
                    <a16:rowId xmlns:a16="http://schemas.microsoft.com/office/drawing/2014/main" val="383597447"/>
                  </a:ext>
                </a:extLst>
              </a:tr>
              <a:tr h="905225">
                <a:tc>
                  <a:txBody>
                    <a:bodyPr/>
                    <a:lstStyle/>
                    <a:p>
                      <a:pPr>
                        <a:buNone/>
                      </a:pPr>
                      <a:r>
                        <a:rPr lang="en-IN" sz="1100"/>
                        <a:t>Story Finalizer (conditional)</a:t>
                      </a:r>
                    </a:p>
                  </a:txBody>
                  <a:tcPr marL="55943" marR="55943" marT="27972" marB="27972" anchor="ctr">
                    <a:lnL>
                      <a:noFill/>
                    </a:lnL>
                    <a:lnR>
                      <a:noFill/>
                    </a:lnR>
                    <a:lnT>
                      <a:noFill/>
                    </a:lnT>
                    <a:lnB>
                      <a:noFill/>
                    </a:lnB>
                    <a:noFill/>
                  </a:tcPr>
                </a:tc>
                <a:tc>
                  <a:txBody>
                    <a:bodyPr/>
                    <a:lstStyle/>
                    <a:p>
                      <a:pPr>
                        <a:buNone/>
                      </a:pPr>
                      <a:r>
                        <a:rPr lang="en-IN" sz="1100"/>
                        <a:t>0.2</a:t>
                      </a:r>
                    </a:p>
                  </a:txBody>
                  <a:tcPr marL="55943" marR="55943" marT="27972" marB="27972" anchor="ctr">
                    <a:lnL>
                      <a:noFill/>
                    </a:lnL>
                    <a:lnR>
                      <a:noFill/>
                    </a:lnR>
                    <a:lnT>
                      <a:noFill/>
                    </a:lnT>
                    <a:lnB>
                      <a:noFill/>
                    </a:lnB>
                    <a:noFill/>
                  </a:tcPr>
                </a:tc>
                <a:tc>
                  <a:txBody>
                    <a:bodyPr/>
                    <a:lstStyle/>
                    <a:p>
                      <a:pPr>
                        <a:buNone/>
                      </a:pPr>
                      <a:r>
                        <a:rPr lang="en-IN" sz="1100"/>
                        <a:t>1</a:t>
                      </a:r>
                    </a:p>
                  </a:txBody>
                  <a:tcPr marL="55943" marR="55943" marT="27972" marB="27972" anchor="ctr">
                    <a:lnL>
                      <a:noFill/>
                    </a:lnL>
                    <a:lnR>
                      <a:noFill/>
                    </a:lnR>
                    <a:lnT>
                      <a:noFill/>
                    </a:lnT>
                    <a:lnB>
                      <a:noFill/>
                    </a:lnB>
                    <a:noFill/>
                  </a:tcPr>
                </a:tc>
                <a:tc>
                  <a:txBody>
                    <a:bodyPr/>
                    <a:lstStyle/>
                    <a:p>
                      <a:pPr>
                        <a:buNone/>
                      </a:pPr>
                      <a:r>
                        <a:rPr lang="en-IN" sz="1100"/>
                        <a:t>~5,100</a:t>
                      </a:r>
                    </a:p>
                  </a:txBody>
                  <a:tcPr marL="55943" marR="55943" marT="27972" marB="27972" anchor="ctr">
                    <a:lnL>
                      <a:noFill/>
                    </a:lnL>
                    <a:lnR>
                      <a:noFill/>
                    </a:lnR>
                    <a:lnT>
                      <a:noFill/>
                    </a:lnT>
                    <a:lnB>
                      <a:noFill/>
                    </a:lnB>
                    <a:noFill/>
                  </a:tcPr>
                </a:tc>
                <a:tc>
                  <a:txBody>
                    <a:bodyPr/>
                    <a:lstStyle/>
                    <a:p>
                      <a:pPr>
                        <a:buNone/>
                      </a:pPr>
                      <a:r>
                        <a:rPr lang="en-IN" sz="1100"/>
                        <a:t>~1,625</a:t>
                      </a:r>
                    </a:p>
                  </a:txBody>
                  <a:tcPr marL="55943" marR="55943" marT="27972" marB="27972" anchor="ctr">
                    <a:lnL>
                      <a:noFill/>
                    </a:lnL>
                    <a:lnR>
                      <a:noFill/>
                    </a:lnR>
                    <a:lnT>
                      <a:noFill/>
                    </a:lnT>
                    <a:lnB>
                      <a:noFill/>
                    </a:lnB>
                    <a:noFill/>
                  </a:tcPr>
                </a:tc>
                <a:tc>
                  <a:txBody>
                    <a:bodyPr/>
                    <a:lstStyle/>
                    <a:p>
                      <a:pPr>
                        <a:buNone/>
                      </a:pPr>
                      <a:r>
                        <a:rPr lang="en-IN" sz="1100"/>
                        <a:t>$0.0017</a:t>
                      </a:r>
                    </a:p>
                  </a:txBody>
                  <a:tcPr marL="55943" marR="55943" marT="27972" marB="27972" anchor="ctr">
                    <a:lnL>
                      <a:noFill/>
                    </a:lnL>
                    <a:lnR>
                      <a:noFill/>
                    </a:lnR>
                    <a:lnT>
                      <a:noFill/>
                    </a:lnT>
                    <a:lnB>
                      <a:noFill/>
                    </a:lnB>
                    <a:noFill/>
                  </a:tcPr>
                </a:tc>
                <a:tc>
                  <a:txBody>
                    <a:bodyPr/>
                    <a:lstStyle/>
                    <a:p>
                      <a:pPr>
                        <a:buNone/>
                      </a:pPr>
                      <a:r>
                        <a:rPr lang="en-IN" sz="1100"/>
                        <a:t>Estimated</a:t>
                      </a:r>
                    </a:p>
                  </a:txBody>
                  <a:tcPr marL="55943" marR="55943" marT="27972" marB="27972" anchor="ctr">
                    <a:lnL>
                      <a:noFill/>
                    </a:lnL>
                    <a:lnR>
                      <a:noFill/>
                    </a:lnR>
                    <a:lnT>
                      <a:noFill/>
                    </a:lnT>
                    <a:lnB>
                      <a:noFill/>
                    </a:lnB>
                    <a:noFill/>
                  </a:tcPr>
                </a:tc>
                <a:extLst>
                  <a:ext uri="{0D108BD9-81ED-4DB2-BD59-A6C34878D82A}">
                    <a16:rowId xmlns:a16="http://schemas.microsoft.com/office/drawing/2014/main" val="2686149390"/>
                  </a:ext>
                </a:extLst>
              </a:tr>
              <a:tr h="278531">
                <a:tc>
                  <a:txBody>
                    <a:bodyPr/>
                    <a:lstStyle/>
                    <a:p>
                      <a:pPr>
                        <a:buNone/>
                      </a:pPr>
                      <a:r>
                        <a:rPr lang="en-IN" sz="1100" b="1"/>
                        <a:t>Total</a:t>
                      </a:r>
                      <a:endParaRPr lang="en-IN" sz="1100"/>
                    </a:p>
                  </a:txBody>
                  <a:tcPr marL="55943" marR="55943" marT="27972" marB="27972" anchor="ctr">
                    <a:lnL>
                      <a:noFill/>
                    </a:lnL>
                    <a:lnR>
                      <a:noFill/>
                    </a:lnR>
                    <a:lnT>
                      <a:noFill/>
                    </a:lnT>
                    <a:lnB>
                      <a:noFill/>
                    </a:lnB>
                    <a:noFill/>
                  </a:tcPr>
                </a:tc>
                <a:tc>
                  <a:txBody>
                    <a:bodyPr/>
                    <a:lstStyle/>
                    <a:p>
                      <a:pPr>
                        <a:buNone/>
                      </a:pPr>
                      <a:r>
                        <a:rPr lang="en-IN" sz="1100"/>
                        <a:t>—</a:t>
                      </a:r>
                    </a:p>
                  </a:txBody>
                  <a:tcPr marL="55943" marR="55943" marT="27972" marB="27972" anchor="ctr">
                    <a:lnL>
                      <a:noFill/>
                    </a:lnL>
                    <a:lnR>
                      <a:noFill/>
                    </a:lnR>
                    <a:lnT>
                      <a:noFill/>
                    </a:lnT>
                    <a:lnB>
                      <a:noFill/>
                    </a:lnB>
                    <a:noFill/>
                  </a:tcPr>
                </a:tc>
                <a:tc>
                  <a:txBody>
                    <a:bodyPr/>
                    <a:lstStyle/>
                    <a:p>
                      <a:pPr>
                        <a:buNone/>
                      </a:pPr>
                      <a:r>
                        <a:rPr lang="en-IN" sz="1100" b="1"/>
                        <a:t>9 calls</a:t>
                      </a:r>
                      <a:endParaRPr lang="en-IN" sz="1100"/>
                    </a:p>
                  </a:txBody>
                  <a:tcPr marL="55943" marR="55943" marT="27972" marB="27972" anchor="ctr">
                    <a:lnL>
                      <a:noFill/>
                    </a:lnL>
                    <a:lnR>
                      <a:noFill/>
                    </a:lnR>
                    <a:lnT>
                      <a:noFill/>
                    </a:lnT>
                    <a:lnB>
                      <a:noFill/>
                    </a:lnB>
                    <a:noFill/>
                  </a:tcPr>
                </a:tc>
                <a:tc>
                  <a:txBody>
                    <a:bodyPr/>
                    <a:lstStyle/>
                    <a:p>
                      <a:pPr>
                        <a:buNone/>
                      </a:pPr>
                      <a:r>
                        <a:rPr lang="en-IN" sz="1100" b="1"/>
                        <a:t>~29,811</a:t>
                      </a:r>
                      <a:endParaRPr lang="en-IN" sz="1100"/>
                    </a:p>
                  </a:txBody>
                  <a:tcPr marL="55943" marR="55943" marT="27972" marB="27972" anchor="ctr">
                    <a:lnL>
                      <a:noFill/>
                    </a:lnL>
                    <a:lnR>
                      <a:noFill/>
                    </a:lnR>
                    <a:lnT>
                      <a:noFill/>
                    </a:lnT>
                    <a:lnB>
                      <a:noFill/>
                    </a:lnB>
                    <a:noFill/>
                  </a:tcPr>
                </a:tc>
                <a:tc>
                  <a:txBody>
                    <a:bodyPr/>
                    <a:lstStyle/>
                    <a:p>
                      <a:pPr>
                        <a:buNone/>
                      </a:pPr>
                      <a:r>
                        <a:rPr lang="en-IN" sz="1100" b="1"/>
                        <a:t>~9,866</a:t>
                      </a:r>
                      <a:endParaRPr lang="en-IN" sz="1100"/>
                    </a:p>
                  </a:txBody>
                  <a:tcPr marL="55943" marR="55943" marT="27972" marB="27972" anchor="ctr">
                    <a:lnL>
                      <a:noFill/>
                    </a:lnL>
                    <a:lnR>
                      <a:noFill/>
                    </a:lnR>
                    <a:lnT>
                      <a:noFill/>
                    </a:lnT>
                    <a:lnB>
                      <a:noFill/>
                    </a:lnB>
                    <a:noFill/>
                  </a:tcPr>
                </a:tc>
                <a:tc>
                  <a:txBody>
                    <a:bodyPr/>
                    <a:lstStyle/>
                    <a:p>
                      <a:pPr>
                        <a:buNone/>
                      </a:pPr>
                      <a:r>
                        <a:rPr lang="en-IN" sz="1100" b="1"/>
                        <a:t>≈$0.0104</a:t>
                      </a:r>
                      <a:endParaRPr lang="en-IN" sz="1100"/>
                    </a:p>
                  </a:txBody>
                  <a:tcPr marL="55943" marR="55943" marT="27972" marB="27972" anchor="ctr">
                    <a:lnL>
                      <a:noFill/>
                    </a:lnL>
                    <a:lnR>
                      <a:noFill/>
                    </a:lnR>
                    <a:lnT>
                      <a:noFill/>
                    </a:lnT>
                    <a:lnB>
                      <a:noFill/>
                    </a:lnB>
                    <a:noFill/>
                  </a:tcPr>
                </a:tc>
                <a:tc>
                  <a:txBody>
                    <a:bodyPr/>
                    <a:lstStyle/>
                    <a:p>
                      <a:pPr>
                        <a:buNone/>
                      </a:pPr>
                      <a:r>
                        <a:rPr lang="en-IN" sz="1100" dirty="0"/>
                        <a:t>Mixed</a:t>
                      </a:r>
                    </a:p>
                  </a:txBody>
                  <a:tcPr marL="55943" marR="55943" marT="27972" marB="27972" anchor="ctr">
                    <a:lnL>
                      <a:noFill/>
                    </a:lnL>
                    <a:lnR>
                      <a:noFill/>
                    </a:lnR>
                    <a:lnT>
                      <a:noFill/>
                    </a:lnT>
                    <a:lnB>
                      <a:noFill/>
                    </a:lnB>
                    <a:noFill/>
                  </a:tcPr>
                </a:tc>
                <a:extLst>
                  <a:ext uri="{0D108BD9-81ED-4DB2-BD59-A6C34878D82A}">
                    <a16:rowId xmlns:a16="http://schemas.microsoft.com/office/drawing/2014/main" val="3719653260"/>
                  </a:ext>
                </a:extLst>
              </a:tr>
            </a:tbl>
          </a:graphicData>
        </a:graphic>
      </p:graphicFrame>
    </p:spTree>
    <p:extLst>
      <p:ext uri="{BB962C8B-B14F-4D97-AF65-F5344CB8AC3E}">
        <p14:creationId xmlns:p14="http://schemas.microsoft.com/office/powerpoint/2010/main" val="1879161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75B22-3998-4B66-776D-2461A761F6CF}"/>
              </a:ext>
            </a:extLst>
          </p:cNvPr>
          <p:cNvSpPr>
            <a:spLocks noGrp="1"/>
          </p:cNvSpPr>
          <p:nvPr>
            <p:ph type="title"/>
          </p:nvPr>
        </p:nvSpPr>
        <p:spPr>
          <a:xfrm>
            <a:off x="646111" y="452718"/>
            <a:ext cx="9404723" cy="640791"/>
          </a:xfrm>
        </p:spPr>
        <p:txBody>
          <a:bodyPr/>
          <a:lstStyle/>
          <a:p>
            <a:r>
              <a:rPr lang="en-US" sz="3600" b="1" dirty="0"/>
              <a:t>Reflection</a:t>
            </a:r>
            <a:r>
              <a:rPr lang="en-US" dirty="0"/>
              <a:t> </a:t>
            </a:r>
            <a:endParaRPr lang="en-IN" dirty="0"/>
          </a:p>
        </p:txBody>
      </p:sp>
      <p:sp>
        <p:nvSpPr>
          <p:cNvPr id="3" name="Content Placeholder 2">
            <a:extLst>
              <a:ext uri="{FF2B5EF4-FFF2-40B4-BE49-F238E27FC236}">
                <a16:creationId xmlns:a16="http://schemas.microsoft.com/office/drawing/2014/main" id="{914B2557-8974-B616-EF78-A233E30BEC45}"/>
              </a:ext>
            </a:extLst>
          </p:cNvPr>
          <p:cNvSpPr>
            <a:spLocks noGrp="1"/>
          </p:cNvSpPr>
          <p:nvPr>
            <p:ph idx="1"/>
          </p:nvPr>
        </p:nvSpPr>
        <p:spPr>
          <a:xfrm>
            <a:off x="716438" y="1240965"/>
            <a:ext cx="10312922" cy="5154890"/>
          </a:xfrm>
        </p:spPr>
        <p:txBody>
          <a:bodyPr>
            <a:normAutofit lnSpcReduction="10000"/>
          </a:bodyPr>
          <a:lstStyle/>
          <a:p>
            <a:pPr marL="0" indent="0">
              <a:buNone/>
            </a:pPr>
            <a:r>
              <a:rPr lang="en-IN" sz="2400" b="1" dirty="0"/>
              <a:t>Findings -</a:t>
            </a:r>
            <a:endParaRPr lang="en-IN" sz="1800" b="1" dirty="0"/>
          </a:p>
          <a:p>
            <a:r>
              <a:rPr lang="en-IN" sz="1800" dirty="0"/>
              <a:t>This capstone was less about getting a pipeline to “work” on the first try and more about learning to distrust clean-looking output until I'd actually traced how it got there. Nearly every agent in this build passed a first test convincingly and then failed a second one in a quieter, more specific way </a:t>
            </a:r>
            <a:br>
              <a:rPr lang="en-IN" sz="1800" dirty="0"/>
            </a:br>
            <a:endParaRPr lang="en-IN" sz="1800" dirty="0"/>
          </a:p>
          <a:p>
            <a:r>
              <a:rPr lang="en-IN" sz="1800" dirty="0"/>
              <a:t>A misconfigured merge caused the PRD Generator to receive fragmented input; instead of failing, it confidently fabricated </a:t>
            </a:r>
            <a:br>
              <a:rPr lang="en-IN" sz="1800" dirty="0"/>
            </a:br>
            <a:endParaRPr lang="en-IN" sz="1800" dirty="0"/>
          </a:p>
          <a:p>
            <a:r>
              <a:rPr lang="en-IN" sz="1800" dirty="0"/>
              <a:t>A Critique agent contradicted itself within the same report</a:t>
            </a:r>
            <a:br>
              <a:rPr lang="en-IN" sz="1800" dirty="0"/>
            </a:br>
            <a:endParaRPr lang="en-IN" sz="1800" dirty="0"/>
          </a:p>
          <a:p>
            <a:r>
              <a:rPr lang="en-IN" sz="1800" dirty="0"/>
              <a:t>A Resolver correctly preserved a contested item's status on one run, then stripped it on a near-identical run </a:t>
            </a:r>
            <a:br>
              <a:rPr lang="en-IN" sz="1800" dirty="0"/>
            </a:br>
            <a:endParaRPr lang="en-IN" sz="1800" dirty="0"/>
          </a:p>
          <a:p>
            <a:r>
              <a:rPr lang="en-IN" sz="1800" dirty="0"/>
              <a:t>A Story Breakdown agent applied a rule correctly to one requirement while silently dropping an identical case elsewhere in the same output</a:t>
            </a:r>
          </a:p>
          <a:p>
            <a:pPr marL="0" indent="0">
              <a:buNone/>
            </a:pPr>
            <a:endParaRPr lang="en-IN" sz="1800" dirty="0"/>
          </a:p>
        </p:txBody>
      </p:sp>
    </p:spTree>
    <p:extLst>
      <p:ext uri="{BB962C8B-B14F-4D97-AF65-F5344CB8AC3E}">
        <p14:creationId xmlns:p14="http://schemas.microsoft.com/office/powerpoint/2010/main" val="1410824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B994-627D-DAD8-524D-4C5583BA290F}"/>
              </a:ext>
            </a:extLst>
          </p:cNvPr>
          <p:cNvSpPr>
            <a:spLocks noGrp="1"/>
          </p:cNvSpPr>
          <p:nvPr>
            <p:ph type="title"/>
          </p:nvPr>
        </p:nvSpPr>
        <p:spPr>
          <a:xfrm>
            <a:off x="646111" y="452718"/>
            <a:ext cx="9404723" cy="659645"/>
          </a:xfrm>
        </p:spPr>
        <p:txBody>
          <a:bodyPr/>
          <a:lstStyle/>
          <a:p>
            <a:r>
              <a:rPr lang="en-US" sz="3600" b="1" dirty="0"/>
              <a:t>Reflection Contd.</a:t>
            </a:r>
            <a:endParaRPr lang="en-IN" sz="3600" dirty="0"/>
          </a:p>
        </p:txBody>
      </p:sp>
      <p:sp>
        <p:nvSpPr>
          <p:cNvPr id="3" name="Content Placeholder 2">
            <a:extLst>
              <a:ext uri="{FF2B5EF4-FFF2-40B4-BE49-F238E27FC236}">
                <a16:creationId xmlns:a16="http://schemas.microsoft.com/office/drawing/2014/main" id="{0BA90DCE-4F39-012A-2F5B-28CE47F59F37}"/>
              </a:ext>
            </a:extLst>
          </p:cNvPr>
          <p:cNvSpPr>
            <a:spLocks noGrp="1"/>
          </p:cNvSpPr>
          <p:nvPr>
            <p:ph idx="1"/>
          </p:nvPr>
        </p:nvSpPr>
        <p:spPr>
          <a:xfrm>
            <a:off x="754520" y="1112363"/>
            <a:ext cx="10369109" cy="5401559"/>
          </a:xfrm>
        </p:spPr>
        <p:txBody>
          <a:bodyPr/>
          <a:lstStyle/>
          <a:p>
            <a:pPr marL="0" indent="0">
              <a:buNone/>
            </a:pPr>
            <a:r>
              <a:rPr lang="en-IN" sz="2400" b="1" dirty="0"/>
              <a:t>Improvement Plan –</a:t>
            </a:r>
          </a:p>
          <a:p>
            <a:r>
              <a:rPr lang="en-IN" dirty="0"/>
              <a:t>Replace more prompt-only self-verification with deterministic, code-based checks</a:t>
            </a:r>
            <a:br>
              <a:rPr lang="en-IN" dirty="0"/>
            </a:br>
            <a:endParaRPr lang="en-IN" dirty="0"/>
          </a:p>
          <a:p>
            <a:r>
              <a:rPr lang="en-IN" dirty="0"/>
              <a:t>Turn every real issue found during testing into a permanent regression test case, not just a one-time prompt fix.</a:t>
            </a:r>
            <a:br>
              <a:rPr lang="en-IN" dirty="0"/>
            </a:br>
            <a:endParaRPr lang="en-IN" dirty="0"/>
          </a:p>
          <a:p>
            <a:r>
              <a:rPr lang="en-IN" dirty="0"/>
              <a:t>Measure the Critique/Resolver loop's actual value against its cost — it roughly triples LLM calls for PRD generation alone.</a:t>
            </a:r>
            <a:br>
              <a:rPr lang="en-IN" dirty="0"/>
            </a:br>
            <a:endParaRPr lang="en-IN" dirty="0"/>
          </a:p>
          <a:p>
            <a:r>
              <a:rPr lang="en-IN" dirty="0"/>
              <a:t>Incrementally patching a prompt one issue at a time, rule by rule, quietly accumulates structural clutter and even outright conflicting instructions across sections — needed a separate, non-bug-driven pass to review and restructure a prompt's overall organization</a:t>
            </a:r>
            <a:endParaRPr lang="en-IN" sz="2400" b="1" dirty="0"/>
          </a:p>
          <a:p>
            <a:endParaRPr lang="en-IN" dirty="0"/>
          </a:p>
        </p:txBody>
      </p:sp>
    </p:spTree>
    <p:extLst>
      <p:ext uri="{BB962C8B-B14F-4D97-AF65-F5344CB8AC3E}">
        <p14:creationId xmlns:p14="http://schemas.microsoft.com/office/powerpoint/2010/main" val="1136426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65</TotalTime>
  <Words>1684</Words>
  <Application>Microsoft Office PowerPoint</Application>
  <PresentationFormat>Widescreen</PresentationFormat>
  <Paragraphs>178</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Century Gothic</vt:lpstr>
      <vt:lpstr>Times New Roman</vt:lpstr>
      <vt:lpstr>Wingdings 3</vt:lpstr>
      <vt:lpstr>Ion</vt:lpstr>
      <vt:lpstr>PRD Genie — AI-Powered Product Documentation Assistant</vt:lpstr>
      <vt:lpstr>Problem Statement</vt:lpstr>
      <vt:lpstr>Solution – PRD Ginie an AI Assistant</vt:lpstr>
      <vt:lpstr>PRD Ginie – Vision </vt:lpstr>
      <vt:lpstr>PRD Ginie - PM Workflow</vt:lpstr>
      <vt:lpstr>Why Multi Agent</vt:lpstr>
      <vt:lpstr>PRD Ginie - Objectives</vt:lpstr>
      <vt:lpstr>PRD Ginie – Scope</vt:lpstr>
      <vt:lpstr>Out of Scope (this iteration) </vt:lpstr>
      <vt:lpstr>Design and Architecture Details</vt:lpstr>
      <vt:lpstr>Design Contd.</vt:lpstr>
      <vt:lpstr>PRD Ginie - Architecture Diagram</vt:lpstr>
      <vt:lpstr>Orchestration Pattern</vt:lpstr>
      <vt:lpstr>TOOL CHOICE</vt:lpstr>
      <vt:lpstr>Observability</vt:lpstr>
      <vt:lpstr>Baseline Test</vt:lpstr>
      <vt:lpstr>Cost Analysis</vt:lpstr>
      <vt:lpstr>Reflection </vt:lpstr>
      <vt:lpstr>Reflection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Pragyaparomita Banerjee</dc:creator>
  <cp:lastModifiedBy>Pragyaparomita Banerjee</cp:lastModifiedBy>
  <cp:revision>3</cp:revision>
  <dcterms:created xsi:type="dcterms:W3CDTF">2026-09-18T11:57:10Z</dcterms:created>
  <dcterms:modified xsi:type="dcterms:W3CDTF">2026-09-18T13:02:37Z</dcterms:modified>
</cp:coreProperties>
</file>